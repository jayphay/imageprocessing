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1" r:id="rId6"/>
    <p:sldId id="262" r:id="rId7"/>
    <p:sldId id="264" r:id="rId8"/>
    <p:sldId id="263" r:id="rId9"/>
    <p:sldId id="260" r:id="rId10"/>
    <p:sldId id="265" r:id="rId11"/>
    <p:sldId id="268" r:id="rId12"/>
    <p:sldId id="266" r:id="rId13"/>
    <p:sldId id="267"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11/19/25</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1001861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15188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06477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11/19/25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68240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11/19/25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468879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11/19/25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835036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94713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30897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33412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021521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508188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135654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546493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9720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476165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3775422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72282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11/19/25</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927785904"/>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jayphay/ImageProcessing.gi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hyperlink" Target="https://www.mathworks.com/help/matlab/" TargetMode="External"/><Relationship Id="rId2" Type="http://schemas.openxmlformats.org/officeDocument/2006/relationships/hyperlink" Target="https://docs.nvidia.com/cuda/" TargetMode="External"/><Relationship Id="rId1" Type="http://schemas.openxmlformats.org/officeDocument/2006/relationships/slideLayout" Target="../slideLayouts/slideLayout2.xml"/><Relationship Id="rId5" Type="http://schemas.openxmlformats.org/officeDocument/2006/relationships/hyperlink" Target="https://github.com/jayphay/ImageProcessing.git" TargetMode="External"/><Relationship Id="rId4" Type="http://schemas.openxmlformats.org/officeDocument/2006/relationships/hyperlink" Target="https://docs.opencv.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076B1-B3CD-12C9-DB6B-35156985F0BD}"/>
              </a:ext>
            </a:extLst>
          </p:cNvPr>
          <p:cNvSpPr>
            <a:spLocks noGrp="1"/>
          </p:cNvSpPr>
          <p:nvPr>
            <p:ph type="ctrTitle"/>
          </p:nvPr>
        </p:nvSpPr>
        <p:spPr/>
        <p:txBody>
          <a:bodyPr/>
          <a:lstStyle/>
          <a:p>
            <a:r>
              <a:rPr lang="en-US" dirty="0"/>
              <a:t>Image processing</a:t>
            </a:r>
          </a:p>
        </p:txBody>
      </p:sp>
      <p:sp>
        <p:nvSpPr>
          <p:cNvPr id="3" name="Subtitle 2">
            <a:extLst>
              <a:ext uri="{FF2B5EF4-FFF2-40B4-BE49-F238E27FC236}">
                <a16:creationId xmlns:a16="http://schemas.microsoft.com/office/drawing/2014/main" id="{4086D8FA-FD49-221F-E04F-597053038568}"/>
              </a:ext>
            </a:extLst>
          </p:cNvPr>
          <p:cNvSpPr>
            <a:spLocks noGrp="1"/>
          </p:cNvSpPr>
          <p:nvPr>
            <p:ph type="subTitle" idx="1"/>
          </p:nvPr>
        </p:nvSpPr>
        <p:spPr/>
        <p:txBody>
          <a:bodyPr/>
          <a:lstStyle/>
          <a:p>
            <a:r>
              <a:rPr lang="en-US" dirty="0"/>
              <a:t>Nubayat Ahmed and Jack Phalen</a:t>
            </a:r>
          </a:p>
        </p:txBody>
      </p:sp>
    </p:spTree>
    <p:extLst>
      <p:ext uri="{BB962C8B-B14F-4D97-AF65-F5344CB8AC3E}">
        <p14:creationId xmlns:p14="http://schemas.microsoft.com/office/powerpoint/2010/main" val="3525605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53FDF-F1B6-8A16-19A3-092FF8C34E42}"/>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83EBD4E-27BD-384A-F37E-E774AF9DD98E}"/>
              </a:ext>
            </a:extLst>
          </p:cNvPr>
          <p:cNvSpPr>
            <a:spLocks noGrp="1"/>
          </p:cNvSpPr>
          <p:nvPr>
            <p:ph idx="1"/>
          </p:nvPr>
        </p:nvSpPr>
        <p:spPr>
          <a:xfrm>
            <a:off x="761409" y="1962409"/>
            <a:ext cx="10515600" cy="4351338"/>
          </a:xfrm>
        </p:spPr>
        <p:txBody>
          <a:bodyPr>
            <a:normAutofit/>
          </a:bodyPr>
          <a:lstStyle/>
          <a:p>
            <a:r>
              <a:rPr lang="en-US"/>
              <a:t>This project recreates the findings from “Performance Enhancement of Image Filtering on GPU Using CUDA” by </a:t>
            </a:r>
            <a:r>
              <a:rPr lang="en-US" b="1"/>
              <a:t>B</a:t>
            </a:r>
            <a:r>
              <a:rPr lang="en-US"/>
              <a:t>. </a:t>
            </a:r>
            <a:r>
              <a:rPr lang="en-US" b="1" err="1"/>
              <a:t>Ramadasu</a:t>
            </a:r>
            <a:r>
              <a:rPr lang="en-US" b="1"/>
              <a:t> (2014)</a:t>
            </a:r>
            <a:r>
              <a:rPr lang="en-US"/>
              <a:t>, focusing on how GPU parallel processing improves the speed and efficiency of image filtering.</a:t>
            </a:r>
          </a:p>
          <a:p>
            <a:r>
              <a:rPr lang="en-US"/>
              <a:t>The main goal is to implement and compare two key image processing techniques: Gaussian blur for smoothing and Sobel edge detection for feature extraction. Both are tested on CPU and GPU architectures using CUDA.</a:t>
            </a:r>
          </a:p>
          <a:p>
            <a:r>
              <a:rPr lang="en-US"/>
              <a:t>The project measures execution-time improvements achieved through GPU acceleration and checks that the GPU-generated results remain consistent with those from the CPU.</a:t>
            </a:r>
          </a:p>
          <a:p>
            <a:r>
              <a:rPr lang="en-US"/>
              <a:t>This recreated system highlights how CUDA uses massive data parallelism, where thousands of threads handle pixels at once—cutting computation time drastically for large, high-resolution images.</a:t>
            </a:r>
          </a:p>
          <a:p>
            <a:endParaRPr lang="en-US">
              <a:solidFill>
                <a:srgbClr val="000000"/>
              </a:solidFill>
              <a:latin typeface="Helvetica" pitchFamily="2" charset="0"/>
            </a:endParaRPr>
          </a:p>
          <a:p>
            <a:r>
              <a:rPr lang="en-US">
                <a:solidFill>
                  <a:srgbClr val="000000"/>
                </a:solidFill>
                <a:latin typeface="Helvetica" pitchFamily="2" charset="0"/>
              </a:rPr>
              <a:t>All code can be found at  </a:t>
            </a:r>
            <a:r>
              <a:rPr lang="en-US">
                <a:solidFill>
                  <a:srgbClr val="000000"/>
                </a:solidFill>
                <a:latin typeface="Helvetica" pitchFamily="2" charset="0"/>
                <a:hlinkClick r:id="rId2"/>
              </a:rPr>
              <a:t>https://github.com/</a:t>
            </a:r>
            <a:r>
              <a:rPr lang="en-US" err="1">
                <a:solidFill>
                  <a:srgbClr val="000000"/>
                </a:solidFill>
                <a:latin typeface="Helvetica" pitchFamily="2" charset="0"/>
                <a:hlinkClick r:id="rId2"/>
              </a:rPr>
              <a:t>jayphay</a:t>
            </a:r>
            <a:r>
              <a:rPr lang="en-US">
                <a:solidFill>
                  <a:srgbClr val="000000"/>
                </a:solidFill>
                <a:latin typeface="Helvetica" pitchFamily="2" charset="0"/>
                <a:hlinkClick r:id="rId2"/>
              </a:rPr>
              <a:t>/ImageProcessing.git</a:t>
            </a:r>
            <a:endParaRPr lang="en-US">
              <a:solidFill>
                <a:srgbClr val="000000"/>
              </a:solidFill>
              <a:latin typeface="Helvetica" pitchFamily="2" charset="0"/>
            </a:endParaRPr>
          </a:p>
          <a:p>
            <a:endParaRPr lang="en-US">
              <a:solidFill>
                <a:srgbClr val="000000"/>
              </a:solidFill>
              <a:effectLst/>
              <a:latin typeface="Helvetica" pitchFamily="2" charset="0"/>
            </a:endParaRPr>
          </a:p>
        </p:txBody>
      </p:sp>
    </p:spTree>
    <p:extLst>
      <p:ext uri="{BB962C8B-B14F-4D97-AF65-F5344CB8AC3E}">
        <p14:creationId xmlns:p14="http://schemas.microsoft.com/office/powerpoint/2010/main" val="1399705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42D8B-B034-ECF8-3B77-5B169631D619}"/>
              </a:ext>
            </a:extLst>
          </p:cNvPr>
          <p:cNvSpPr>
            <a:spLocks noGrp="1"/>
          </p:cNvSpPr>
          <p:nvPr>
            <p:ph type="title"/>
          </p:nvPr>
        </p:nvSpPr>
        <p:spPr/>
        <p:txBody>
          <a:bodyPr/>
          <a:lstStyle/>
          <a:p>
            <a:r>
              <a:rPr lang="en-US" dirty="0"/>
              <a:t>Background and Motivation </a:t>
            </a:r>
          </a:p>
        </p:txBody>
      </p:sp>
      <p:sp>
        <p:nvSpPr>
          <p:cNvPr id="9" name="Content Placeholder 2">
            <a:extLst>
              <a:ext uri="{FF2B5EF4-FFF2-40B4-BE49-F238E27FC236}">
                <a16:creationId xmlns:a16="http://schemas.microsoft.com/office/drawing/2014/main" id="{5D718479-9509-ED62-3714-EE3B19077E28}"/>
              </a:ext>
            </a:extLst>
          </p:cNvPr>
          <p:cNvSpPr txBox="1">
            <a:spLocks noGrp="1"/>
          </p:cNvSpPr>
          <p:nvPr>
            <p:ph idx="1"/>
          </p:nvPr>
        </p:nvSpPr>
        <p:spPr>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As technology continues to evolve, the speed of computation defines how efficiently we process information. Every image filter and visual algorithm depends on the ability to handle millions of pixels quickly and accurately. This project explores how GPU parallel computing with CUDA can transform image processing performance.</a:t>
            </a:r>
          </a:p>
          <a:p>
            <a:r>
              <a:rPr lang="en-US"/>
              <a:t>Traditional CPU-based methods execute tasks sequentially, while GPUs allow thousands of threads to process pixels at the same time. This shift from serial to parallel computing changes both speed and design, turning computation into a coordinated effort rather than a single task.</a:t>
            </a:r>
          </a:p>
          <a:p>
            <a:r>
              <a:rPr lang="en-US"/>
              <a:t>Building on the work of B. </a:t>
            </a:r>
            <a:r>
              <a:rPr lang="en-US" err="1"/>
              <a:t>Ramadasu</a:t>
            </a:r>
            <a:r>
              <a:rPr lang="en-US"/>
              <a:t> (2014), our goal was to reproduce and extend earlier findings by integrating shared-memory optimization. This improvement minimizes global memory access and increases efficiency while maintaining identical accuracy to the CPU results.</a:t>
            </a:r>
          </a:p>
          <a:p>
            <a:r>
              <a:rPr lang="en-US"/>
              <a:t>Ultimately, the motivation behind this project is to demonstrate how deeper hardware-level understanding can lead to meaningful advances in performance, showing that small architectural changes can yield significant real-world impact.</a:t>
            </a:r>
          </a:p>
          <a:p>
            <a:endParaRPr lang="en-US"/>
          </a:p>
        </p:txBody>
      </p:sp>
    </p:spTree>
    <p:extLst>
      <p:ext uri="{BB962C8B-B14F-4D97-AF65-F5344CB8AC3E}">
        <p14:creationId xmlns:p14="http://schemas.microsoft.com/office/powerpoint/2010/main" val="3966011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AD630-7BFB-CD96-0D9F-E8B1E2F6C7CE}"/>
              </a:ext>
            </a:extLst>
          </p:cNvPr>
          <p:cNvSpPr>
            <a:spLocks noGrp="1"/>
          </p:cNvSpPr>
          <p:nvPr>
            <p:ph type="title"/>
          </p:nvPr>
        </p:nvSpPr>
        <p:spPr/>
        <p:txBody>
          <a:bodyPr/>
          <a:lstStyle/>
          <a:p>
            <a:r>
              <a:rPr lang="en-US" dirty="0"/>
              <a:t>Design Methods</a:t>
            </a:r>
          </a:p>
        </p:txBody>
      </p:sp>
      <p:sp>
        <p:nvSpPr>
          <p:cNvPr id="3" name="Content Placeholder 2">
            <a:extLst>
              <a:ext uri="{FF2B5EF4-FFF2-40B4-BE49-F238E27FC236}">
                <a16:creationId xmlns:a16="http://schemas.microsoft.com/office/drawing/2014/main" id="{750E812B-4C8E-D293-F2A9-1D900CCD42A9}"/>
              </a:ext>
            </a:extLst>
          </p:cNvPr>
          <p:cNvSpPr>
            <a:spLocks noGrp="1"/>
          </p:cNvSpPr>
          <p:nvPr>
            <p:ph idx="1"/>
          </p:nvPr>
        </p:nvSpPr>
        <p:spPr/>
        <p:txBody>
          <a:bodyPr vert="horz" lIns="91440" tIns="45720" rIns="91440" bIns="45720" rtlCol="0" anchor="t">
            <a:normAutofit/>
          </a:bodyPr>
          <a:lstStyle/>
          <a:p>
            <a:r>
              <a:rPr lang="en-US"/>
              <a:t>Used both CPU and GPU implementations to test accuracy and show speedup of using GPU</a:t>
            </a:r>
          </a:p>
          <a:p>
            <a:r>
              <a:rPr lang="en-US"/>
              <a:t>Blur and edge detection kernels both use a convolution matrix to process each pixel in the image</a:t>
            </a:r>
          </a:p>
          <a:p>
            <a:r>
              <a:rPr lang="en-US"/>
              <a:t>Kernels are called with block dimensions of 16x16 and grid dimensions based on the width and height of the image</a:t>
            </a:r>
          </a:p>
          <a:p>
            <a:pPr lvl="1">
              <a:buFont typeface="Courier New" panose="020B0604020202020204" pitchFamily="34" charset="0"/>
              <a:buChar char="o"/>
            </a:pPr>
            <a:r>
              <a:rPr lang="en-US"/>
              <a:t>Width/16, height/16 grid size</a:t>
            </a:r>
          </a:p>
          <a:p>
            <a:endParaRPr lang="en-US"/>
          </a:p>
        </p:txBody>
      </p:sp>
    </p:spTree>
    <p:extLst>
      <p:ext uri="{BB962C8B-B14F-4D97-AF65-F5344CB8AC3E}">
        <p14:creationId xmlns:p14="http://schemas.microsoft.com/office/powerpoint/2010/main" val="1582505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25D88-F2EA-3827-B788-530430B30B27}"/>
              </a:ext>
            </a:extLst>
          </p:cNvPr>
          <p:cNvSpPr>
            <a:spLocks noGrp="1"/>
          </p:cNvSpPr>
          <p:nvPr>
            <p:ph type="title"/>
          </p:nvPr>
        </p:nvSpPr>
        <p:spPr/>
        <p:txBody>
          <a:bodyPr/>
          <a:lstStyle/>
          <a:p>
            <a:r>
              <a:rPr lang="en-US"/>
              <a:t>Gaussian Blur</a:t>
            </a:r>
          </a:p>
        </p:txBody>
      </p:sp>
      <p:sp>
        <p:nvSpPr>
          <p:cNvPr id="3" name="Content Placeholder 2">
            <a:extLst>
              <a:ext uri="{FF2B5EF4-FFF2-40B4-BE49-F238E27FC236}">
                <a16:creationId xmlns:a16="http://schemas.microsoft.com/office/drawing/2014/main" id="{1400593F-EAAC-177E-6CA1-EC4EF3E089CF}"/>
              </a:ext>
            </a:extLst>
          </p:cNvPr>
          <p:cNvSpPr>
            <a:spLocks noGrp="1"/>
          </p:cNvSpPr>
          <p:nvPr>
            <p:ph idx="1"/>
          </p:nvPr>
        </p:nvSpPr>
        <p:spPr/>
        <p:txBody>
          <a:bodyPr vert="horz" lIns="91440" tIns="45720" rIns="91440" bIns="45720" rtlCol="0" anchor="t">
            <a:normAutofit/>
          </a:bodyPr>
          <a:lstStyle/>
          <a:p>
            <a:r>
              <a:rPr lang="en-US"/>
              <a:t>Special type of filter that gives a weighted average of a pixel's magnitude and its neighbors</a:t>
            </a:r>
          </a:p>
          <a:p>
            <a:r>
              <a:rPr lang="en-US"/>
              <a:t>Average vs weighted average</a:t>
            </a:r>
          </a:p>
          <a:p>
            <a:endParaRPr lang="en-US"/>
          </a:p>
        </p:txBody>
      </p:sp>
      <p:graphicFrame>
        <p:nvGraphicFramePr>
          <p:cNvPr id="4" name="Table 3">
            <a:extLst>
              <a:ext uri="{FF2B5EF4-FFF2-40B4-BE49-F238E27FC236}">
                <a16:creationId xmlns:a16="http://schemas.microsoft.com/office/drawing/2014/main" id="{6955094B-23A6-1578-06DD-98CCC9F3FF24}"/>
              </a:ext>
            </a:extLst>
          </p:cNvPr>
          <p:cNvGraphicFramePr>
            <a:graphicFrameLocks noGrp="1"/>
          </p:cNvGraphicFramePr>
          <p:nvPr>
            <p:extLst>
              <p:ext uri="{D42A27DB-BD31-4B8C-83A1-F6EECF244321}">
                <p14:modId xmlns:p14="http://schemas.microsoft.com/office/powerpoint/2010/main" val="3639268255"/>
              </p:ext>
            </p:extLst>
          </p:nvPr>
        </p:nvGraphicFramePr>
        <p:xfrm>
          <a:off x="1267400" y="4000747"/>
          <a:ext cx="2809239" cy="2328363"/>
        </p:xfrm>
        <a:graphic>
          <a:graphicData uri="http://schemas.openxmlformats.org/drawingml/2006/table">
            <a:tbl>
              <a:tblPr firstRow="1" bandRow="1">
                <a:tableStyleId>{2D5ABB26-0587-4C30-8999-92F81FD0307C}</a:tableStyleId>
              </a:tblPr>
              <a:tblGrid>
                <a:gridCol w="936413">
                  <a:extLst>
                    <a:ext uri="{9D8B030D-6E8A-4147-A177-3AD203B41FA5}">
                      <a16:colId xmlns:a16="http://schemas.microsoft.com/office/drawing/2014/main" val="1338542242"/>
                    </a:ext>
                  </a:extLst>
                </a:gridCol>
                <a:gridCol w="936413">
                  <a:extLst>
                    <a:ext uri="{9D8B030D-6E8A-4147-A177-3AD203B41FA5}">
                      <a16:colId xmlns:a16="http://schemas.microsoft.com/office/drawing/2014/main" val="666574988"/>
                    </a:ext>
                  </a:extLst>
                </a:gridCol>
                <a:gridCol w="936413">
                  <a:extLst>
                    <a:ext uri="{9D8B030D-6E8A-4147-A177-3AD203B41FA5}">
                      <a16:colId xmlns:a16="http://schemas.microsoft.com/office/drawing/2014/main" val="4250252216"/>
                    </a:ext>
                  </a:extLst>
                </a:gridCol>
              </a:tblGrid>
              <a:tr h="776121">
                <a:tc>
                  <a:txBody>
                    <a:bodyPr/>
                    <a:lstStyle/>
                    <a:p>
                      <a:pPr lvl="0" algn="ctr">
                        <a:buNone/>
                      </a:pPr>
                      <a:r>
                        <a:rPr lang="en-US"/>
                        <a:t>1</a:t>
                      </a:r>
                    </a:p>
                  </a:txBody>
                  <a:tcPr anchor="ctr"/>
                </a:tc>
                <a:tc>
                  <a:txBody>
                    <a:bodyPr/>
                    <a:lstStyle/>
                    <a:p>
                      <a:pPr lvl="0" algn="ctr">
                        <a:buNone/>
                      </a:pPr>
                      <a:r>
                        <a:rPr lang="en-US"/>
                        <a:t>1</a:t>
                      </a:r>
                    </a:p>
                  </a:txBody>
                  <a:tcPr anchor="ctr"/>
                </a:tc>
                <a:tc>
                  <a:txBody>
                    <a:bodyPr/>
                    <a:lstStyle/>
                    <a:p>
                      <a:pPr lvl="0" algn="ctr">
                        <a:buNone/>
                      </a:pPr>
                      <a:r>
                        <a:rPr lang="en-US"/>
                        <a:t>1</a:t>
                      </a:r>
                    </a:p>
                  </a:txBody>
                  <a:tcPr anchor="ctr"/>
                </a:tc>
                <a:extLst>
                  <a:ext uri="{0D108BD9-81ED-4DB2-BD59-A6C34878D82A}">
                    <a16:rowId xmlns:a16="http://schemas.microsoft.com/office/drawing/2014/main" val="2510345285"/>
                  </a:ext>
                </a:extLst>
              </a:tr>
              <a:tr h="776121">
                <a:tc>
                  <a:txBody>
                    <a:bodyPr/>
                    <a:lstStyle/>
                    <a:p>
                      <a:pPr lvl="0" algn="ctr">
                        <a:buNone/>
                      </a:pPr>
                      <a:r>
                        <a:rPr lang="en-US"/>
                        <a:t>1</a:t>
                      </a:r>
                    </a:p>
                  </a:txBody>
                  <a:tcPr anchor="ctr"/>
                </a:tc>
                <a:tc>
                  <a:txBody>
                    <a:bodyPr/>
                    <a:lstStyle/>
                    <a:p>
                      <a:pPr lvl="0" algn="ctr">
                        <a:buNone/>
                      </a:pPr>
                      <a:r>
                        <a:rPr lang="en-US"/>
                        <a:t>1</a:t>
                      </a:r>
                    </a:p>
                  </a:txBody>
                  <a:tcPr anchor="ctr"/>
                </a:tc>
                <a:tc>
                  <a:txBody>
                    <a:bodyPr/>
                    <a:lstStyle/>
                    <a:p>
                      <a:pPr lvl="0" algn="ctr">
                        <a:buNone/>
                      </a:pPr>
                      <a:r>
                        <a:rPr lang="en-US"/>
                        <a:t>1</a:t>
                      </a:r>
                    </a:p>
                  </a:txBody>
                  <a:tcPr anchor="ctr"/>
                </a:tc>
                <a:extLst>
                  <a:ext uri="{0D108BD9-81ED-4DB2-BD59-A6C34878D82A}">
                    <a16:rowId xmlns:a16="http://schemas.microsoft.com/office/drawing/2014/main" val="4283988973"/>
                  </a:ext>
                </a:extLst>
              </a:tr>
              <a:tr h="776121">
                <a:tc>
                  <a:txBody>
                    <a:bodyPr/>
                    <a:lstStyle/>
                    <a:p>
                      <a:pPr lvl="0" algn="ctr">
                        <a:buNone/>
                      </a:pPr>
                      <a:r>
                        <a:rPr lang="en-US"/>
                        <a:t>1</a:t>
                      </a:r>
                    </a:p>
                  </a:txBody>
                  <a:tcPr anchor="ctr"/>
                </a:tc>
                <a:tc>
                  <a:txBody>
                    <a:bodyPr/>
                    <a:lstStyle/>
                    <a:p>
                      <a:pPr lvl="0" algn="ctr">
                        <a:buNone/>
                      </a:pPr>
                      <a:r>
                        <a:rPr lang="en-US"/>
                        <a:t>1</a:t>
                      </a:r>
                    </a:p>
                  </a:txBody>
                  <a:tcPr anchor="ctr"/>
                </a:tc>
                <a:tc>
                  <a:txBody>
                    <a:bodyPr/>
                    <a:lstStyle/>
                    <a:p>
                      <a:pPr lvl="0" algn="ctr">
                        <a:buNone/>
                      </a:pPr>
                      <a:r>
                        <a:rPr lang="en-US"/>
                        <a:t>1</a:t>
                      </a:r>
                    </a:p>
                  </a:txBody>
                  <a:tcPr anchor="ctr"/>
                </a:tc>
                <a:extLst>
                  <a:ext uri="{0D108BD9-81ED-4DB2-BD59-A6C34878D82A}">
                    <a16:rowId xmlns:a16="http://schemas.microsoft.com/office/drawing/2014/main" val="778780891"/>
                  </a:ext>
                </a:extLst>
              </a:tr>
            </a:tbl>
          </a:graphicData>
        </a:graphic>
      </p:graphicFrame>
      <p:graphicFrame>
        <p:nvGraphicFramePr>
          <p:cNvPr id="6" name="Table 5">
            <a:extLst>
              <a:ext uri="{FF2B5EF4-FFF2-40B4-BE49-F238E27FC236}">
                <a16:creationId xmlns:a16="http://schemas.microsoft.com/office/drawing/2014/main" id="{99910660-B3F2-39F1-ECBA-FB6B65F149B6}"/>
              </a:ext>
            </a:extLst>
          </p:cNvPr>
          <p:cNvGraphicFramePr>
            <a:graphicFrameLocks noGrp="1"/>
          </p:cNvGraphicFramePr>
          <p:nvPr>
            <p:extLst>
              <p:ext uri="{D42A27DB-BD31-4B8C-83A1-F6EECF244321}">
                <p14:modId xmlns:p14="http://schemas.microsoft.com/office/powerpoint/2010/main" val="1796549810"/>
              </p:ext>
            </p:extLst>
          </p:nvPr>
        </p:nvGraphicFramePr>
        <p:xfrm>
          <a:off x="4567335" y="4003605"/>
          <a:ext cx="2809236" cy="2324091"/>
        </p:xfrm>
        <a:graphic>
          <a:graphicData uri="http://schemas.openxmlformats.org/drawingml/2006/table">
            <a:tbl>
              <a:tblPr bandRow="1">
                <a:tableStyleId>{5C22544A-7EE6-4342-B048-85BDC9FD1C3A}</a:tableStyleId>
              </a:tblPr>
              <a:tblGrid>
                <a:gridCol w="936412">
                  <a:extLst>
                    <a:ext uri="{9D8B030D-6E8A-4147-A177-3AD203B41FA5}">
                      <a16:colId xmlns:a16="http://schemas.microsoft.com/office/drawing/2014/main" val="1943048580"/>
                    </a:ext>
                  </a:extLst>
                </a:gridCol>
                <a:gridCol w="936412">
                  <a:extLst>
                    <a:ext uri="{9D8B030D-6E8A-4147-A177-3AD203B41FA5}">
                      <a16:colId xmlns:a16="http://schemas.microsoft.com/office/drawing/2014/main" val="4197859943"/>
                    </a:ext>
                  </a:extLst>
                </a:gridCol>
                <a:gridCol w="936412">
                  <a:extLst>
                    <a:ext uri="{9D8B030D-6E8A-4147-A177-3AD203B41FA5}">
                      <a16:colId xmlns:a16="http://schemas.microsoft.com/office/drawing/2014/main" val="1129204739"/>
                    </a:ext>
                  </a:extLst>
                </a:gridCol>
              </a:tblGrid>
              <a:tr h="774697">
                <a:tc>
                  <a:txBody>
                    <a:bodyPr/>
                    <a:lstStyle/>
                    <a:p>
                      <a:pPr algn="ctr" rtl="0" fontAlgn="base">
                        <a:lnSpc>
                          <a:spcPts val="1620"/>
                        </a:lnSpc>
                        <a:buNone/>
                      </a:pPr>
                      <a:r>
                        <a:rPr lang="en-US" sz="1800" b="0" i="0">
                          <a:solidFill>
                            <a:srgbClr val="000000"/>
                          </a:solidFill>
                          <a:effectLst/>
                          <a:latin typeface="Aptos"/>
                        </a:rPr>
                        <a:t>0</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base">
                        <a:lnSpc>
                          <a:spcPts val="1620"/>
                        </a:lnSpc>
                        <a:buNone/>
                      </a:pPr>
                      <a:r>
                        <a:rPr lang="en-US" sz="1800" b="0" i="0">
                          <a:solidFill>
                            <a:srgbClr val="000000"/>
                          </a:solidFill>
                          <a:effectLst/>
                          <a:latin typeface="Aptos"/>
                        </a:rPr>
                        <a:t>1</a:t>
                      </a:r>
                      <a:endParaRPr lang="en-US" b="0" i="0">
                        <a:solidFill>
                          <a:srgbClr val="000000"/>
                        </a:solidFill>
                        <a:effectLst/>
                        <a:latin typeface="Aptos"/>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lgn="ctr">
                        <a:lnSpc>
                          <a:spcPts val="1620"/>
                        </a:lnSpc>
                        <a:buNone/>
                      </a:pPr>
                      <a:r>
                        <a:rPr lang="en-US" sz="1800" b="0" i="0">
                          <a:solidFill>
                            <a:srgbClr val="000000"/>
                          </a:solidFill>
                          <a:effectLst/>
                          <a:latin typeface="Aptos"/>
                        </a:rPr>
                        <a:t>0</a:t>
                      </a:r>
                      <a:endParaRPr lang="en-US"/>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395188626"/>
                  </a:ext>
                </a:extLst>
              </a:tr>
              <a:tr h="774697">
                <a:tc>
                  <a:txBody>
                    <a:bodyPr/>
                    <a:lstStyle/>
                    <a:p>
                      <a:pPr algn="ctr" rtl="0" fontAlgn="base">
                        <a:lnSpc>
                          <a:spcPts val="1620"/>
                        </a:lnSpc>
                        <a:buNone/>
                      </a:pPr>
                      <a:r>
                        <a:rPr lang="en-US" sz="1800" b="0" i="0">
                          <a:solidFill>
                            <a:srgbClr val="000000"/>
                          </a:solidFill>
                          <a:effectLst/>
                          <a:latin typeface="Aptos"/>
                        </a:rPr>
                        <a:t>1</a:t>
                      </a:r>
                      <a:endParaRPr lang="en-US" b="0" i="0">
                        <a:solidFill>
                          <a:srgbClr val="000000"/>
                        </a:solidFill>
                        <a:effectLst/>
                        <a:latin typeface="Aptos"/>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lgn="ctr">
                        <a:lnSpc>
                          <a:spcPts val="1620"/>
                        </a:lnSpc>
                        <a:buNone/>
                      </a:pPr>
                      <a:r>
                        <a:rPr lang="en-US" sz="1800" b="0" i="0">
                          <a:solidFill>
                            <a:srgbClr val="000000"/>
                          </a:solidFill>
                          <a:effectLst/>
                          <a:latin typeface="Aptos"/>
                        </a:rPr>
                        <a:t>4</a:t>
                      </a:r>
                      <a:endParaRPr lang="en-US"/>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base">
                        <a:lnSpc>
                          <a:spcPts val="1620"/>
                        </a:lnSpc>
                        <a:buNone/>
                      </a:pPr>
                      <a:r>
                        <a:rPr lang="en-US" sz="1800" b="0" i="0">
                          <a:solidFill>
                            <a:srgbClr val="000000"/>
                          </a:solidFill>
                          <a:effectLst/>
                          <a:latin typeface="Aptos"/>
                        </a:rPr>
                        <a:t>1</a:t>
                      </a:r>
                      <a:endParaRPr lang="en-US" b="0" i="0">
                        <a:solidFill>
                          <a:srgbClr val="000000"/>
                        </a:solidFill>
                        <a:effectLst/>
                        <a:latin typeface="Aptos"/>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173080659"/>
                  </a:ext>
                </a:extLst>
              </a:tr>
              <a:tr h="774697">
                <a:tc>
                  <a:txBody>
                    <a:bodyPr/>
                    <a:lstStyle/>
                    <a:p>
                      <a:pPr lvl="0" algn="ctr">
                        <a:lnSpc>
                          <a:spcPts val="1620"/>
                        </a:lnSpc>
                        <a:buNone/>
                      </a:pPr>
                      <a:r>
                        <a:rPr lang="en-US" sz="1800" b="0" i="0">
                          <a:solidFill>
                            <a:srgbClr val="000000"/>
                          </a:solidFill>
                          <a:effectLst/>
                          <a:latin typeface="Aptos"/>
                        </a:rPr>
                        <a:t>0</a:t>
                      </a:r>
                      <a:endParaRPr lang="en-US"/>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base">
                        <a:lnSpc>
                          <a:spcPts val="1620"/>
                        </a:lnSpc>
                        <a:buNone/>
                      </a:pPr>
                      <a:r>
                        <a:rPr lang="en-US" sz="1800" b="0" i="0">
                          <a:solidFill>
                            <a:srgbClr val="000000"/>
                          </a:solidFill>
                          <a:effectLst/>
                          <a:latin typeface="Aptos"/>
                        </a:rPr>
                        <a:t>1</a:t>
                      </a:r>
                      <a:endParaRPr lang="en-US" b="0" i="0">
                        <a:solidFill>
                          <a:srgbClr val="000000"/>
                        </a:solidFill>
                        <a:effectLst/>
                        <a:latin typeface="Aptos"/>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lgn="ctr">
                        <a:lnSpc>
                          <a:spcPts val="1620"/>
                        </a:lnSpc>
                        <a:buNone/>
                      </a:pPr>
                      <a:r>
                        <a:rPr lang="en-US" sz="1800" b="0" i="0">
                          <a:solidFill>
                            <a:srgbClr val="000000"/>
                          </a:solidFill>
                          <a:effectLst/>
                          <a:latin typeface="Aptos"/>
                        </a:rPr>
                        <a:t>0</a:t>
                      </a:r>
                      <a:endParaRPr lang="en-US"/>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135295367"/>
                  </a:ext>
                </a:extLst>
              </a:tr>
            </a:tbl>
          </a:graphicData>
        </a:graphic>
      </p:graphicFrame>
    </p:spTree>
    <p:extLst>
      <p:ext uri="{BB962C8B-B14F-4D97-AF65-F5344CB8AC3E}">
        <p14:creationId xmlns:p14="http://schemas.microsoft.com/office/powerpoint/2010/main" val="3377888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2F357-D952-D909-7EC2-9B3A907927E6}"/>
              </a:ext>
            </a:extLst>
          </p:cNvPr>
          <p:cNvSpPr>
            <a:spLocks noGrp="1"/>
          </p:cNvSpPr>
          <p:nvPr>
            <p:ph type="title"/>
          </p:nvPr>
        </p:nvSpPr>
        <p:spPr/>
        <p:txBody>
          <a:bodyPr/>
          <a:lstStyle/>
          <a:p>
            <a:r>
              <a:rPr lang="en-US"/>
              <a:t>Gaussian Blur </a:t>
            </a:r>
            <a:r>
              <a:rPr lang="en-US" err="1"/>
              <a:t>cont</a:t>
            </a:r>
          </a:p>
        </p:txBody>
      </p:sp>
      <p:sp>
        <p:nvSpPr>
          <p:cNvPr id="3" name="Content Placeholder 2">
            <a:extLst>
              <a:ext uri="{FF2B5EF4-FFF2-40B4-BE49-F238E27FC236}">
                <a16:creationId xmlns:a16="http://schemas.microsoft.com/office/drawing/2014/main" id="{A3F3D8BE-89C9-93BC-74DB-1552ED889582}"/>
              </a:ext>
            </a:extLst>
          </p:cNvPr>
          <p:cNvSpPr>
            <a:spLocks noGrp="1"/>
          </p:cNvSpPr>
          <p:nvPr>
            <p:ph idx="1"/>
          </p:nvPr>
        </p:nvSpPr>
        <p:spPr/>
        <p:txBody>
          <a:bodyPr vert="horz" lIns="91440" tIns="45720" rIns="91440" bIns="45720" rtlCol="0" anchor="t">
            <a:normAutofit/>
          </a:bodyPr>
          <a:lstStyle/>
          <a:p>
            <a:r>
              <a:rPr lang="en-US"/>
              <a:t>The kernel first checks if the convolution matrix is fully in bounds</a:t>
            </a:r>
          </a:p>
          <a:p>
            <a:r>
              <a:rPr lang="en-US"/>
              <a:t>If it is, it then loops 9 times (convolution matrix is 3x3) and calculates the value each pixel will add to the magnitude</a:t>
            </a:r>
          </a:p>
          <a:p>
            <a:r>
              <a:rPr lang="en-US"/>
              <a:t>Value is found by multiplying the main pixel's neighbor's values by the specified amount in the convolution matrix</a:t>
            </a:r>
          </a:p>
          <a:p>
            <a:pPr lvl="1">
              <a:buFont typeface="Courier New" panose="020B0604020202020204" pitchFamily="34" charset="0"/>
              <a:buChar char="o"/>
            </a:pPr>
            <a:r>
              <a:rPr lang="en-US"/>
              <a:t>Ex. The top left neighbor will be multiplied by the value at [0,0] in the convolution matrix</a:t>
            </a:r>
          </a:p>
          <a:p>
            <a:r>
              <a:rPr lang="en-US"/>
              <a:t>The values are added to a sum variable and then the final value is stored in the output image</a:t>
            </a:r>
          </a:p>
        </p:txBody>
      </p:sp>
    </p:spTree>
    <p:extLst>
      <p:ext uri="{BB962C8B-B14F-4D97-AF65-F5344CB8AC3E}">
        <p14:creationId xmlns:p14="http://schemas.microsoft.com/office/powerpoint/2010/main" val="3224194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24E51-DC63-1578-BFE0-8B95A2BCDF5B}"/>
              </a:ext>
            </a:extLst>
          </p:cNvPr>
          <p:cNvSpPr>
            <a:spLocks noGrp="1"/>
          </p:cNvSpPr>
          <p:nvPr>
            <p:ph type="title"/>
          </p:nvPr>
        </p:nvSpPr>
        <p:spPr/>
        <p:txBody>
          <a:bodyPr/>
          <a:lstStyle/>
          <a:p>
            <a:r>
              <a:rPr lang="en-US"/>
              <a:t>Edge Detection</a:t>
            </a:r>
          </a:p>
        </p:txBody>
      </p:sp>
      <p:sp>
        <p:nvSpPr>
          <p:cNvPr id="3" name="Content Placeholder 2">
            <a:extLst>
              <a:ext uri="{FF2B5EF4-FFF2-40B4-BE49-F238E27FC236}">
                <a16:creationId xmlns:a16="http://schemas.microsoft.com/office/drawing/2014/main" id="{6C7175BD-EFDF-CFBD-5D0F-AC2964D095FE}"/>
              </a:ext>
            </a:extLst>
          </p:cNvPr>
          <p:cNvSpPr>
            <a:spLocks noGrp="1"/>
          </p:cNvSpPr>
          <p:nvPr>
            <p:ph idx="1"/>
          </p:nvPr>
        </p:nvSpPr>
        <p:spPr/>
        <p:txBody>
          <a:bodyPr vert="horz" lIns="91440" tIns="45720" rIns="91440" bIns="45720" rtlCol="0" anchor="t">
            <a:normAutofit/>
          </a:bodyPr>
          <a:lstStyle/>
          <a:p>
            <a:r>
              <a:rPr lang="en-US"/>
              <a:t>Similar process as before: 3x3 convolution mask over the pixel being processed</a:t>
            </a:r>
          </a:p>
          <a:p>
            <a:r>
              <a:rPr lang="en-US"/>
              <a:t>Slight difference: 2 masks now: one calculates changes from left to right and the other finds changes from top to bottom</a:t>
            </a:r>
          </a:p>
          <a:p>
            <a:r>
              <a:rPr lang="en-US"/>
              <a:t>These results are combined by finding the magnitude of the two values</a:t>
            </a:r>
          </a:p>
          <a:p>
            <a:r>
              <a:rPr lang="en-US"/>
              <a:t>Horizontal mask and vertical mask</a:t>
            </a:r>
          </a:p>
          <a:p>
            <a:pPr lvl="1">
              <a:buFont typeface="Courier New" panose="020B0604020202020204" pitchFamily="34" charset="0"/>
              <a:buChar char="o"/>
            </a:pPr>
            <a:endParaRPr lang="en-US"/>
          </a:p>
        </p:txBody>
      </p:sp>
      <p:pic>
        <p:nvPicPr>
          <p:cNvPr id="4" name="Picture 3" descr="A black and white math equation&#10;&#10;AI-generated content may be incorrect.">
            <a:extLst>
              <a:ext uri="{FF2B5EF4-FFF2-40B4-BE49-F238E27FC236}">
                <a16:creationId xmlns:a16="http://schemas.microsoft.com/office/drawing/2014/main" id="{89DD2499-FC45-462A-43C7-F114E75FEA21}"/>
              </a:ext>
            </a:extLst>
          </p:cNvPr>
          <p:cNvPicPr>
            <a:picLocks noChangeAspect="1"/>
          </p:cNvPicPr>
          <p:nvPr/>
        </p:nvPicPr>
        <p:blipFill>
          <a:blip r:embed="rId2"/>
          <a:stretch>
            <a:fillRect/>
          </a:stretch>
        </p:blipFill>
        <p:spPr>
          <a:xfrm>
            <a:off x="8705292" y="4427831"/>
            <a:ext cx="1733550" cy="752475"/>
          </a:xfrm>
          <a:prstGeom prst="rect">
            <a:avLst/>
          </a:prstGeom>
        </p:spPr>
      </p:pic>
      <p:graphicFrame>
        <p:nvGraphicFramePr>
          <p:cNvPr id="6" name="Table 5">
            <a:extLst>
              <a:ext uri="{FF2B5EF4-FFF2-40B4-BE49-F238E27FC236}">
                <a16:creationId xmlns:a16="http://schemas.microsoft.com/office/drawing/2014/main" id="{0CF0745D-312D-C42C-E2B9-16F790755E48}"/>
              </a:ext>
            </a:extLst>
          </p:cNvPr>
          <p:cNvGraphicFramePr>
            <a:graphicFrameLocks noGrp="1"/>
          </p:cNvGraphicFramePr>
          <p:nvPr>
            <p:extLst>
              <p:ext uri="{D42A27DB-BD31-4B8C-83A1-F6EECF244321}">
                <p14:modId xmlns:p14="http://schemas.microsoft.com/office/powerpoint/2010/main" val="2708880780"/>
              </p:ext>
            </p:extLst>
          </p:nvPr>
        </p:nvGraphicFramePr>
        <p:xfrm>
          <a:off x="1099940" y="3991791"/>
          <a:ext cx="2809236" cy="2324091"/>
        </p:xfrm>
        <a:graphic>
          <a:graphicData uri="http://schemas.openxmlformats.org/drawingml/2006/table">
            <a:tbl>
              <a:tblPr bandRow="1">
                <a:tableStyleId>{5C22544A-7EE6-4342-B048-85BDC9FD1C3A}</a:tableStyleId>
              </a:tblPr>
              <a:tblGrid>
                <a:gridCol w="936412">
                  <a:extLst>
                    <a:ext uri="{9D8B030D-6E8A-4147-A177-3AD203B41FA5}">
                      <a16:colId xmlns:a16="http://schemas.microsoft.com/office/drawing/2014/main" val="2250401590"/>
                    </a:ext>
                  </a:extLst>
                </a:gridCol>
                <a:gridCol w="936412">
                  <a:extLst>
                    <a:ext uri="{9D8B030D-6E8A-4147-A177-3AD203B41FA5}">
                      <a16:colId xmlns:a16="http://schemas.microsoft.com/office/drawing/2014/main" val="3462212532"/>
                    </a:ext>
                  </a:extLst>
                </a:gridCol>
                <a:gridCol w="936412">
                  <a:extLst>
                    <a:ext uri="{9D8B030D-6E8A-4147-A177-3AD203B41FA5}">
                      <a16:colId xmlns:a16="http://schemas.microsoft.com/office/drawing/2014/main" val="1616552360"/>
                    </a:ext>
                  </a:extLst>
                </a:gridCol>
              </a:tblGrid>
              <a:tr h="774697">
                <a:tc>
                  <a:txBody>
                    <a:bodyPr/>
                    <a:lstStyle/>
                    <a:p>
                      <a:pPr algn="ctr" rtl="0" fontAlgn="base">
                        <a:lnSpc>
                          <a:spcPts val="1620"/>
                        </a:lnSpc>
                        <a:buNone/>
                      </a:pPr>
                      <a:r>
                        <a:rPr lang="en-US" sz="1800" b="0" i="0">
                          <a:solidFill>
                            <a:srgbClr val="000000"/>
                          </a:solidFill>
                          <a:effectLst/>
                          <a:latin typeface="Neue Haas Grotesk Text Pro"/>
                        </a:rPr>
                        <a:t>-1</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lgn="ctr">
                        <a:lnSpc>
                          <a:spcPts val="1620"/>
                        </a:lnSpc>
                        <a:buNone/>
                      </a:pPr>
                      <a:r>
                        <a:rPr lang="en-US" sz="1800" b="0" i="0">
                          <a:solidFill>
                            <a:srgbClr val="000000"/>
                          </a:solidFill>
                          <a:effectLst/>
                          <a:latin typeface="Neue Haas Grotesk Text Pro"/>
                        </a:rPr>
                        <a:t>0</a:t>
                      </a:r>
                      <a:endParaRPr lang="en-US"/>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lgn="ctr">
                        <a:lnSpc>
                          <a:spcPts val="1620"/>
                        </a:lnSpc>
                        <a:buNone/>
                      </a:pPr>
                      <a:r>
                        <a:rPr lang="en-US" sz="1800" b="0" i="0">
                          <a:solidFill>
                            <a:srgbClr val="000000"/>
                          </a:solidFill>
                          <a:effectLst/>
                          <a:latin typeface="Neue Haas Grotesk Text Pro"/>
                        </a:rPr>
                        <a:t>1</a:t>
                      </a:r>
                      <a:endParaRPr lang="en-US">
                        <a:latin typeface="Neue Haas Grotesk Text Pro"/>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274510739"/>
                  </a:ext>
                </a:extLst>
              </a:tr>
              <a:tr h="774697">
                <a:tc>
                  <a:txBody>
                    <a:bodyPr/>
                    <a:lstStyle/>
                    <a:p>
                      <a:pPr lvl="0" algn="ctr">
                        <a:lnSpc>
                          <a:spcPts val="1620"/>
                        </a:lnSpc>
                        <a:buNone/>
                      </a:pPr>
                      <a:r>
                        <a:rPr lang="en-US" sz="1800" b="0" i="0">
                          <a:solidFill>
                            <a:srgbClr val="000000"/>
                          </a:solidFill>
                          <a:effectLst/>
                          <a:latin typeface="Neue Haas Grotesk Text Pro"/>
                        </a:rPr>
                        <a:t>-2</a:t>
                      </a:r>
                      <a:endParaRPr lang="en-US"/>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lgn="ctr">
                        <a:lnSpc>
                          <a:spcPts val="1620"/>
                        </a:lnSpc>
                        <a:buNone/>
                      </a:pPr>
                      <a:r>
                        <a:rPr lang="en-US" sz="1800" b="0" i="0">
                          <a:solidFill>
                            <a:srgbClr val="000000"/>
                          </a:solidFill>
                          <a:effectLst/>
                          <a:latin typeface="Neue Haas Grotesk Text Pro"/>
                        </a:rPr>
                        <a:t>0</a:t>
                      </a:r>
                      <a:endParaRPr lang="en-US"/>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lgn="ctr">
                        <a:lnSpc>
                          <a:spcPts val="1620"/>
                        </a:lnSpc>
                        <a:buNone/>
                      </a:pPr>
                      <a:r>
                        <a:rPr lang="en-US" sz="1800" b="0" i="0">
                          <a:solidFill>
                            <a:srgbClr val="000000"/>
                          </a:solidFill>
                          <a:effectLst/>
                          <a:latin typeface="Neue Haas Grotesk Text Pro"/>
                        </a:rPr>
                        <a:t>2</a:t>
                      </a:r>
                      <a:endParaRPr lang="en-US"/>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906801"/>
                  </a:ext>
                </a:extLst>
              </a:tr>
              <a:tr h="774697">
                <a:tc>
                  <a:txBody>
                    <a:bodyPr/>
                    <a:lstStyle/>
                    <a:p>
                      <a:pPr lvl="0" algn="ctr">
                        <a:lnSpc>
                          <a:spcPts val="1620"/>
                        </a:lnSpc>
                        <a:buNone/>
                      </a:pPr>
                      <a:r>
                        <a:rPr lang="en-US" sz="1800" b="0" i="0">
                          <a:solidFill>
                            <a:srgbClr val="000000"/>
                          </a:solidFill>
                          <a:effectLst/>
                          <a:latin typeface="Neue Haas Grotesk Text Pro"/>
                        </a:rPr>
                        <a:t>-1</a:t>
                      </a:r>
                      <a:endParaRPr lang="en-US"/>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lgn="ctr">
                        <a:lnSpc>
                          <a:spcPts val="1620"/>
                        </a:lnSpc>
                        <a:buNone/>
                      </a:pPr>
                      <a:r>
                        <a:rPr lang="en-US" sz="1800" b="0" i="0">
                          <a:solidFill>
                            <a:srgbClr val="000000"/>
                          </a:solidFill>
                          <a:effectLst/>
                          <a:latin typeface="Neue Haas Grotesk Text Pro"/>
                        </a:rPr>
                        <a:t>0</a:t>
                      </a:r>
                      <a:endParaRPr lang="en-US"/>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lvl="0" algn="ctr">
                        <a:lnSpc>
                          <a:spcPts val="1620"/>
                        </a:lnSpc>
                        <a:buNone/>
                      </a:pPr>
                      <a:r>
                        <a:rPr lang="en-US" sz="1800" b="0" i="0">
                          <a:solidFill>
                            <a:srgbClr val="000000"/>
                          </a:solidFill>
                          <a:effectLst/>
                          <a:latin typeface="Neue Haas Grotesk Text Pro"/>
                        </a:rPr>
                        <a:t>1</a:t>
                      </a:r>
                      <a:endParaRPr lang="en-US">
                        <a:latin typeface="Neue Haas Grotesk Text Pro"/>
                      </a:endParaRP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397095797"/>
                  </a:ext>
                </a:extLst>
              </a:tr>
            </a:tbl>
          </a:graphicData>
        </a:graphic>
      </p:graphicFrame>
      <p:graphicFrame>
        <p:nvGraphicFramePr>
          <p:cNvPr id="8" name="Table 7">
            <a:extLst>
              <a:ext uri="{FF2B5EF4-FFF2-40B4-BE49-F238E27FC236}">
                <a16:creationId xmlns:a16="http://schemas.microsoft.com/office/drawing/2014/main" id="{906FA6BE-6DD1-BD75-73F8-042699BFD7DB}"/>
              </a:ext>
            </a:extLst>
          </p:cNvPr>
          <p:cNvGraphicFramePr>
            <a:graphicFrameLocks noGrp="1"/>
          </p:cNvGraphicFramePr>
          <p:nvPr>
            <p:extLst>
              <p:ext uri="{D42A27DB-BD31-4B8C-83A1-F6EECF244321}">
                <p14:modId xmlns:p14="http://schemas.microsoft.com/office/powerpoint/2010/main" val="4249956673"/>
              </p:ext>
            </p:extLst>
          </p:nvPr>
        </p:nvGraphicFramePr>
        <p:xfrm>
          <a:off x="4844963" y="4015419"/>
          <a:ext cx="2809236" cy="2324091"/>
        </p:xfrm>
        <a:graphic>
          <a:graphicData uri="http://schemas.openxmlformats.org/drawingml/2006/table">
            <a:tbl>
              <a:tblPr bandRow="1">
                <a:tableStyleId>{5C22544A-7EE6-4342-B048-85BDC9FD1C3A}</a:tableStyleId>
              </a:tblPr>
              <a:tblGrid>
                <a:gridCol w="936412">
                  <a:extLst>
                    <a:ext uri="{9D8B030D-6E8A-4147-A177-3AD203B41FA5}">
                      <a16:colId xmlns:a16="http://schemas.microsoft.com/office/drawing/2014/main" val="3757526742"/>
                    </a:ext>
                  </a:extLst>
                </a:gridCol>
                <a:gridCol w="936412">
                  <a:extLst>
                    <a:ext uri="{9D8B030D-6E8A-4147-A177-3AD203B41FA5}">
                      <a16:colId xmlns:a16="http://schemas.microsoft.com/office/drawing/2014/main" val="24071684"/>
                    </a:ext>
                  </a:extLst>
                </a:gridCol>
                <a:gridCol w="936412">
                  <a:extLst>
                    <a:ext uri="{9D8B030D-6E8A-4147-A177-3AD203B41FA5}">
                      <a16:colId xmlns:a16="http://schemas.microsoft.com/office/drawing/2014/main" val="2295329732"/>
                    </a:ext>
                  </a:extLst>
                </a:gridCol>
              </a:tblGrid>
              <a:tr h="774697">
                <a:tc>
                  <a:txBody>
                    <a:bodyPr/>
                    <a:lstStyle/>
                    <a:p>
                      <a:pPr algn="ctr" rtl="0" fontAlgn="base">
                        <a:lnSpc>
                          <a:spcPts val="1215"/>
                        </a:lnSpc>
                        <a:buNone/>
                      </a:pPr>
                      <a:r>
                        <a:rPr lang="en-US" sz="1800" b="0" i="0">
                          <a:solidFill>
                            <a:srgbClr val="000000"/>
                          </a:solidFill>
                          <a:effectLst/>
                          <a:latin typeface="Neue Haas Grotesk Text Pro"/>
                        </a:rPr>
                        <a:t>1</a:t>
                      </a:r>
                    </a:p>
                  </a:txBody>
                  <a:tcPr marL="51435" marR="51435" marT="25718" marB="2571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lvl="0" algn="ctr">
                        <a:lnSpc>
                          <a:spcPts val="1215"/>
                        </a:lnSpc>
                        <a:buNone/>
                      </a:pPr>
                      <a:r>
                        <a:rPr lang="en-US" sz="1800" b="0" i="0">
                          <a:solidFill>
                            <a:srgbClr val="000000"/>
                          </a:solidFill>
                          <a:effectLst/>
                          <a:latin typeface="Neue Haas Grotesk Text Pro"/>
                        </a:rPr>
                        <a:t>2</a:t>
                      </a:r>
                      <a:endParaRPr lang="en-US"/>
                    </a:p>
                  </a:txBody>
                  <a:tcPr marL="51435" marR="51435" marT="25718" marB="2571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215"/>
                        </a:lnSpc>
                        <a:buNone/>
                      </a:pPr>
                      <a:r>
                        <a:rPr lang="en-US" sz="1800" b="0" i="0">
                          <a:solidFill>
                            <a:srgbClr val="000000"/>
                          </a:solidFill>
                          <a:effectLst/>
                          <a:latin typeface="Neue Haas Grotesk Text Pro"/>
                        </a:rPr>
                        <a:t>1</a:t>
                      </a:r>
                      <a:endParaRPr lang="en-US" b="0" i="0">
                        <a:solidFill>
                          <a:srgbClr val="000000"/>
                        </a:solidFill>
                        <a:effectLst/>
                        <a:latin typeface="Neue Haas Grotesk Text Pro"/>
                      </a:endParaRPr>
                    </a:p>
                  </a:txBody>
                  <a:tcPr marL="51435" marR="51435" marT="25718" marB="2571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422576996"/>
                  </a:ext>
                </a:extLst>
              </a:tr>
              <a:tr h="774697">
                <a:tc>
                  <a:txBody>
                    <a:bodyPr/>
                    <a:lstStyle/>
                    <a:p>
                      <a:pPr lvl="0" algn="ctr">
                        <a:lnSpc>
                          <a:spcPts val="1215"/>
                        </a:lnSpc>
                        <a:buNone/>
                      </a:pPr>
                      <a:r>
                        <a:rPr lang="en-US" sz="1800" b="0" i="0">
                          <a:solidFill>
                            <a:srgbClr val="000000"/>
                          </a:solidFill>
                          <a:effectLst/>
                          <a:latin typeface="Neue Haas Grotesk Text Pro"/>
                        </a:rPr>
                        <a:t>0</a:t>
                      </a:r>
                    </a:p>
                  </a:txBody>
                  <a:tcPr marL="51435" marR="51435" marT="25718" marB="2571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215"/>
                        </a:lnSpc>
                        <a:buNone/>
                      </a:pPr>
                      <a:r>
                        <a:rPr lang="en-US" sz="1800" b="0" i="0">
                          <a:solidFill>
                            <a:srgbClr val="000000"/>
                          </a:solidFill>
                          <a:effectLst/>
                          <a:latin typeface="Neue Haas Grotesk Text Pro"/>
                        </a:rPr>
                        <a:t>0</a:t>
                      </a:r>
                      <a:endParaRPr lang="en-US" b="0" i="0">
                        <a:solidFill>
                          <a:srgbClr val="000000"/>
                        </a:solidFill>
                        <a:effectLst/>
                        <a:latin typeface="Neue Haas Grotesk Text Pro"/>
                      </a:endParaRPr>
                    </a:p>
                  </a:txBody>
                  <a:tcPr marL="51435" marR="51435" marT="25718" marB="2571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lvl="0" algn="ctr">
                        <a:lnSpc>
                          <a:spcPts val="1215"/>
                        </a:lnSpc>
                        <a:buNone/>
                      </a:pPr>
                      <a:r>
                        <a:rPr lang="en-US" sz="1800" b="0" i="0">
                          <a:solidFill>
                            <a:srgbClr val="000000"/>
                          </a:solidFill>
                          <a:effectLst/>
                          <a:latin typeface="Neue Haas Grotesk Text Pro"/>
                        </a:rPr>
                        <a:t>0</a:t>
                      </a:r>
                      <a:endParaRPr lang="en-US"/>
                    </a:p>
                  </a:txBody>
                  <a:tcPr marL="51435" marR="51435" marT="25718" marB="2571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381073010"/>
                  </a:ext>
                </a:extLst>
              </a:tr>
              <a:tr h="774697">
                <a:tc>
                  <a:txBody>
                    <a:bodyPr/>
                    <a:lstStyle/>
                    <a:p>
                      <a:pPr algn="ctr" rtl="0" fontAlgn="base">
                        <a:lnSpc>
                          <a:spcPts val="1215"/>
                        </a:lnSpc>
                        <a:buNone/>
                      </a:pPr>
                      <a:r>
                        <a:rPr lang="en-US" sz="1800" b="0" i="0">
                          <a:solidFill>
                            <a:srgbClr val="000000"/>
                          </a:solidFill>
                          <a:effectLst/>
                          <a:latin typeface="Neue Haas Grotesk Text Pro"/>
                        </a:rPr>
                        <a:t>-1</a:t>
                      </a:r>
                      <a:endParaRPr lang="en-US" b="0" i="0">
                        <a:solidFill>
                          <a:srgbClr val="000000"/>
                        </a:solidFill>
                        <a:effectLst/>
                        <a:latin typeface="Neue Haas Grotesk Text Pro"/>
                      </a:endParaRPr>
                    </a:p>
                  </a:txBody>
                  <a:tcPr marL="51435" marR="51435" marT="25718" marB="2571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lvl="0" algn="ctr">
                        <a:lnSpc>
                          <a:spcPts val="1215"/>
                        </a:lnSpc>
                        <a:buNone/>
                      </a:pPr>
                      <a:r>
                        <a:rPr lang="en-US" sz="1800" b="0" i="0">
                          <a:solidFill>
                            <a:srgbClr val="000000"/>
                          </a:solidFill>
                          <a:effectLst/>
                          <a:latin typeface="Neue Haas Grotesk Text Pro"/>
                        </a:rPr>
                        <a:t>-2</a:t>
                      </a:r>
                      <a:endParaRPr lang="en-US"/>
                    </a:p>
                  </a:txBody>
                  <a:tcPr marL="51435" marR="51435" marT="25718" marB="2571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lvl="0" algn="ctr">
                        <a:lnSpc>
                          <a:spcPts val="1215"/>
                        </a:lnSpc>
                        <a:buNone/>
                      </a:pPr>
                      <a:r>
                        <a:rPr lang="en-US" sz="1800" b="0" i="0">
                          <a:solidFill>
                            <a:srgbClr val="000000"/>
                          </a:solidFill>
                          <a:effectLst/>
                          <a:latin typeface="Neue Haas Grotesk Text Pro"/>
                        </a:rPr>
                        <a:t>-1</a:t>
                      </a:r>
                      <a:endParaRPr lang="en-US"/>
                    </a:p>
                  </a:txBody>
                  <a:tcPr marL="51435" marR="51435" marT="25718" marB="2571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201458211"/>
                  </a:ext>
                </a:extLst>
              </a:tr>
            </a:tbl>
          </a:graphicData>
        </a:graphic>
      </p:graphicFrame>
    </p:spTree>
    <p:extLst>
      <p:ext uri="{BB962C8B-B14F-4D97-AF65-F5344CB8AC3E}">
        <p14:creationId xmlns:p14="http://schemas.microsoft.com/office/powerpoint/2010/main" val="2985595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CCE66-B13F-9367-25CF-4BC83A1D2C51}"/>
              </a:ext>
            </a:extLst>
          </p:cNvPr>
          <p:cNvSpPr>
            <a:spLocks noGrp="1"/>
          </p:cNvSpPr>
          <p:nvPr>
            <p:ph type="title"/>
          </p:nvPr>
        </p:nvSpPr>
        <p:spPr/>
        <p:txBody>
          <a:bodyPr/>
          <a:lstStyle/>
          <a:p>
            <a:r>
              <a:rPr lang="en-US"/>
              <a:t>Improvements</a:t>
            </a:r>
          </a:p>
        </p:txBody>
      </p:sp>
      <p:sp>
        <p:nvSpPr>
          <p:cNvPr id="5" name="Content Placeholder 4">
            <a:extLst>
              <a:ext uri="{FF2B5EF4-FFF2-40B4-BE49-F238E27FC236}">
                <a16:creationId xmlns:a16="http://schemas.microsoft.com/office/drawing/2014/main" id="{55E5D508-6EE1-06D9-6228-140C0BC92B73}"/>
              </a:ext>
            </a:extLst>
          </p:cNvPr>
          <p:cNvSpPr>
            <a:spLocks noGrp="1"/>
          </p:cNvSpPr>
          <p:nvPr>
            <p:ph idx="1"/>
          </p:nvPr>
        </p:nvSpPr>
        <p:spPr/>
        <p:txBody>
          <a:bodyPr>
            <a:normAutofit fontScale="92500" lnSpcReduction="20000"/>
          </a:bodyPr>
          <a:lstStyle/>
          <a:p>
            <a:r>
              <a:rPr lang="en-US"/>
              <a:t>To enhance the original CUDA implementation, we introduced shared-memory optimization for both the Gaussian blur and Sobel edge detection kernels.Shared memory allows each block of threads to load small image tiles from global memory into a fast on-chip buffer, reducing redundant global memory accesses.</a:t>
            </a:r>
          </a:p>
          <a:p>
            <a:r>
              <a:rPr lang="en-US"/>
              <a:t>In the baseline GPU version, each thread fetched neighboring pixels directly from global memory, leading to repeated reads for overlapping convolution regions.The shared-memory version instead loads a (BLOCK_SIZE + 2) × (BLOCK_SIZE + 2) tile per block, including halo pixels, so adjacent threads can reuse data locally..</a:t>
            </a:r>
          </a:p>
          <a:p>
            <a:r>
              <a:rPr lang="en-US"/>
              <a:t>These optimizations reduced memory latency and improved cache efficiency while maintaining identical visual and numerical accuracy with the CPU and baseline GPU results.</a:t>
            </a:r>
          </a:p>
          <a:p>
            <a:r>
              <a:rPr lang="en-US"/>
              <a:t>Measured results confirmed that the shared-memory approach achieved an additional ~1.5× speedup over the standard GPU implementation, lowering total execution time from roughly 0.06 ms → 0.04 ms, and over 18,000× faster than CPU processing on the same high-resolution image.</a:t>
            </a:r>
          </a:p>
          <a:p>
            <a:r>
              <a:rPr lang="en-US"/>
              <a:t>The final system now runs and saves six outputs (CPU, GPU, and Shared GPU), providing a clear visual and quantitative comparison of how memory hierarchy optimization in CUDA can drastically improve real-world image filtering performance</a:t>
            </a:r>
          </a:p>
        </p:txBody>
      </p:sp>
    </p:spTree>
    <p:extLst>
      <p:ext uri="{BB962C8B-B14F-4D97-AF65-F5344CB8AC3E}">
        <p14:creationId xmlns:p14="http://schemas.microsoft.com/office/powerpoint/2010/main" val="1185540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CD764-F541-DC4A-1561-C8622C7DC242}"/>
              </a:ext>
            </a:extLst>
          </p:cNvPr>
          <p:cNvSpPr>
            <a:spLocks noGrp="1"/>
          </p:cNvSpPr>
          <p:nvPr>
            <p:ph type="title"/>
          </p:nvPr>
        </p:nvSpPr>
        <p:spPr/>
        <p:txBody>
          <a:bodyPr/>
          <a:lstStyle/>
          <a:p>
            <a:r>
              <a:rPr lang="en-US"/>
              <a:t>Results</a:t>
            </a:r>
          </a:p>
        </p:txBody>
      </p:sp>
      <p:sp>
        <p:nvSpPr>
          <p:cNvPr id="3" name="Content Placeholder 2">
            <a:extLst>
              <a:ext uri="{FF2B5EF4-FFF2-40B4-BE49-F238E27FC236}">
                <a16:creationId xmlns:a16="http://schemas.microsoft.com/office/drawing/2014/main" id="{BC659D0F-2E5E-E7F3-3AAD-29AA4C6797C1}"/>
              </a:ext>
            </a:extLst>
          </p:cNvPr>
          <p:cNvSpPr>
            <a:spLocks noGrp="1"/>
          </p:cNvSpPr>
          <p:nvPr>
            <p:ph idx="1"/>
          </p:nvPr>
        </p:nvSpPr>
        <p:spPr/>
        <p:txBody>
          <a:bodyPr vert="horz" lIns="91440" tIns="45720" rIns="91440" bIns="45720" rtlCol="0" anchor="t">
            <a:normAutofit/>
          </a:bodyPr>
          <a:lstStyle/>
          <a:p>
            <a:r>
              <a:rPr lang="en-US"/>
              <a:t>Input image</a:t>
            </a:r>
          </a:p>
          <a:p>
            <a:endParaRPr lang="en-US"/>
          </a:p>
        </p:txBody>
      </p:sp>
      <p:pic>
        <p:nvPicPr>
          <p:cNvPr id="4" name="Picture 3" descr="A dog standing on a beach&#10;&#10;AI-generated content may be incorrect.">
            <a:extLst>
              <a:ext uri="{FF2B5EF4-FFF2-40B4-BE49-F238E27FC236}">
                <a16:creationId xmlns:a16="http://schemas.microsoft.com/office/drawing/2014/main" id="{6D5C38A6-86DC-0EE2-5A78-FDDE8015981F}"/>
              </a:ext>
            </a:extLst>
          </p:cNvPr>
          <p:cNvPicPr>
            <a:picLocks noChangeAspect="1"/>
          </p:cNvPicPr>
          <p:nvPr/>
        </p:nvPicPr>
        <p:blipFill>
          <a:blip r:embed="rId2"/>
          <a:stretch>
            <a:fillRect/>
          </a:stretch>
        </p:blipFill>
        <p:spPr>
          <a:xfrm>
            <a:off x="1582811" y="2341931"/>
            <a:ext cx="4808796" cy="4011207"/>
          </a:xfrm>
          <a:prstGeom prst="rect">
            <a:avLst/>
          </a:prstGeom>
        </p:spPr>
      </p:pic>
    </p:spTree>
    <p:extLst>
      <p:ext uri="{BB962C8B-B14F-4D97-AF65-F5344CB8AC3E}">
        <p14:creationId xmlns:p14="http://schemas.microsoft.com/office/powerpoint/2010/main" val="2955509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AD23F-CAC8-0966-E8AA-A921B6FA80B7}"/>
              </a:ext>
            </a:extLst>
          </p:cNvPr>
          <p:cNvSpPr>
            <a:spLocks noGrp="1"/>
          </p:cNvSpPr>
          <p:nvPr>
            <p:ph type="title"/>
          </p:nvPr>
        </p:nvSpPr>
        <p:spPr/>
        <p:txBody>
          <a:bodyPr/>
          <a:lstStyle/>
          <a:p>
            <a:r>
              <a:rPr lang="en-US"/>
              <a:t>Results </a:t>
            </a:r>
            <a:r>
              <a:rPr lang="en-US" err="1"/>
              <a:t>cont</a:t>
            </a:r>
            <a:r>
              <a:rPr lang="en-US"/>
              <a:t> </a:t>
            </a:r>
          </a:p>
        </p:txBody>
      </p:sp>
      <p:sp>
        <p:nvSpPr>
          <p:cNvPr id="3" name="Content Placeholder 2">
            <a:extLst>
              <a:ext uri="{FF2B5EF4-FFF2-40B4-BE49-F238E27FC236}">
                <a16:creationId xmlns:a16="http://schemas.microsoft.com/office/drawing/2014/main" id="{482E197E-F379-37DE-8C72-A5D087715C62}"/>
              </a:ext>
            </a:extLst>
          </p:cNvPr>
          <p:cNvSpPr>
            <a:spLocks noGrp="1"/>
          </p:cNvSpPr>
          <p:nvPr>
            <p:ph idx="1"/>
          </p:nvPr>
        </p:nvSpPr>
        <p:spPr/>
        <p:txBody>
          <a:bodyPr vert="horz" lIns="91440" tIns="45720" rIns="91440" bIns="45720" rtlCol="0" anchor="t">
            <a:normAutofit/>
          </a:bodyPr>
          <a:lstStyle/>
          <a:p>
            <a:r>
              <a:rPr lang="en-US"/>
              <a:t>Blur and edge detection outputs</a:t>
            </a:r>
          </a:p>
        </p:txBody>
      </p:sp>
      <p:pic>
        <p:nvPicPr>
          <p:cNvPr id="4" name="Picture 3" descr="A dog standing on a beach&#10;&#10;AI-generated content may be incorrect.">
            <a:extLst>
              <a:ext uri="{FF2B5EF4-FFF2-40B4-BE49-F238E27FC236}">
                <a16:creationId xmlns:a16="http://schemas.microsoft.com/office/drawing/2014/main" id="{3AA6FF49-B796-488A-2440-47A452DC7497}"/>
              </a:ext>
            </a:extLst>
          </p:cNvPr>
          <p:cNvPicPr>
            <a:picLocks noChangeAspect="1"/>
          </p:cNvPicPr>
          <p:nvPr/>
        </p:nvPicPr>
        <p:blipFill>
          <a:blip r:embed="rId2"/>
          <a:stretch>
            <a:fillRect/>
          </a:stretch>
        </p:blipFill>
        <p:spPr>
          <a:xfrm>
            <a:off x="841933" y="2421766"/>
            <a:ext cx="4691015" cy="3903807"/>
          </a:xfrm>
          <a:prstGeom prst="rect">
            <a:avLst/>
          </a:prstGeom>
        </p:spPr>
      </p:pic>
      <p:pic>
        <p:nvPicPr>
          <p:cNvPr id="6" name="Picture 5" descr="A black and white image of a dog&#10;&#10;AI-generated content may be incorrect.">
            <a:extLst>
              <a:ext uri="{FF2B5EF4-FFF2-40B4-BE49-F238E27FC236}">
                <a16:creationId xmlns:a16="http://schemas.microsoft.com/office/drawing/2014/main" id="{91E08287-1228-CD56-4FDE-EF9F41EE7861}"/>
              </a:ext>
            </a:extLst>
          </p:cNvPr>
          <p:cNvPicPr>
            <a:picLocks noChangeAspect="1"/>
          </p:cNvPicPr>
          <p:nvPr/>
        </p:nvPicPr>
        <p:blipFill>
          <a:blip r:embed="rId3"/>
          <a:stretch>
            <a:fillRect/>
          </a:stretch>
        </p:blipFill>
        <p:spPr>
          <a:xfrm>
            <a:off x="6426532" y="2424628"/>
            <a:ext cx="4838331" cy="4028928"/>
          </a:xfrm>
          <a:prstGeom prst="rect">
            <a:avLst/>
          </a:prstGeom>
        </p:spPr>
      </p:pic>
    </p:spTree>
    <p:extLst>
      <p:ext uri="{BB962C8B-B14F-4D97-AF65-F5344CB8AC3E}">
        <p14:creationId xmlns:p14="http://schemas.microsoft.com/office/powerpoint/2010/main" val="3584184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16E5C-44A3-B0D1-AF05-454BFE5834E9}"/>
              </a:ext>
            </a:extLst>
          </p:cNvPr>
          <p:cNvSpPr>
            <a:spLocks noGrp="1"/>
          </p:cNvSpPr>
          <p:nvPr>
            <p:ph type="title"/>
          </p:nvPr>
        </p:nvSpPr>
        <p:spPr>
          <a:xfrm>
            <a:off x="461756" y="511453"/>
            <a:ext cx="10653578" cy="1132258"/>
          </a:xfrm>
        </p:spPr>
        <p:txBody>
          <a:bodyPr/>
          <a:lstStyle/>
          <a:p>
            <a:r>
              <a:rPr lang="en-US"/>
              <a:t>Results cont.</a:t>
            </a:r>
          </a:p>
        </p:txBody>
      </p:sp>
      <p:sp>
        <p:nvSpPr>
          <p:cNvPr id="3" name="Content Placeholder 2">
            <a:extLst>
              <a:ext uri="{FF2B5EF4-FFF2-40B4-BE49-F238E27FC236}">
                <a16:creationId xmlns:a16="http://schemas.microsoft.com/office/drawing/2014/main" id="{9EF1F795-586A-C879-9523-C5FCAD136371}"/>
              </a:ext>
            </a:extLst>
          </p:cNvPr>
          <p:cNvSpPr>
            <a:spLocks noGrp="1"/>
          </p:cNvSpPr>
          <p:nvPr>
            <p:ph idx="1"/>
          </p:nvPr>
        </p:nvSpPr>
        <p:spPr/>
        <p:txBody>
          <a:bodyPr/>
          <a:lstStyle/>
          <a:p>
            <a:r>
              <a:rPr lang="en-US"/>
              <a:t>Shared + blur and edge detection</a:t>
            </a:r>
          </a:p>
          <a:p>
            <a:endParaRPr lang="en-US"/>
          </a:p>
        </p:txBody>
      </p:sp>
      <p:sp>
        <p:nvSpPr>
          <p:cNvPr id="4" name="Date Placeholder 3">
            <a:extLst>
              <a:ext uri="{FF2B5EF4-FFF2-40B4-BE49-F238E27FC236}">
                <a16:creationId xmlns:a16="http://schemas.microsoft.com/office/drawing/2014/main" id="{AA7A47B8-D9CE-7F51-7A74-DB9AA4593AB1}"/>
              </a:ext>
            </a:extLst>
          </p:cNvPr>
          <p:cNvSpPr>
            <a:spLocks noGrp="1"/>
          </p:cNvSpPr>
          <p:nvPr>
            <p:ph type="dt" sz="half" idx="10"/>
          </p:nvPr>
        </p:nvSpPr>
        <p:spPr/>
        <p:txBody>
          <a:bodyPr/>
          <a:lstStyle/>
          <a:p>
            <a:fld id="{FAF67E4B-CCBD-8448-9D11-ED31055922CC}" type="datetime1">
              <a:rPr lang="en-US" smtClean="0"/>
              <a:t>11/19/25</a:t>
            </a:fld>
            <a:endParaRPr lang="en-US"/>
          </a:p>
        </p:txBody>
      </p:sp>
      <p:sp>
        <p:nvSpPr>
          <p:cNvPr id="5" name="Footer Placeholder 4">
            <a:extLst>
              <a:ext uri="{FF2B5EF4-FFF2-40B4-BE49-F238E27FC236}">
                <a16:creationId xmlns:a16="http://schemas.microsoft.com/office/drawing/2014/main" id="{7CBD4A97-593E-05CC-623B-44900FB2A7B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2DA3AB5-9C3D-1B91-C05C-7266B3E14946}"/>
              </a:ext>
            </a:extLst>
          </p:cNvPr>
          <p:cNvSpPr>
            <a:spLocks noGrp="1"/>
          </p:cNvSpPr>
          <p:nvPr>
            <p:ph type="sldNum" sz="quarter" idx="12"/>
          </p:nvPr>
        </p:nvSpPr>
        <p:spPr/>
        <p:txBody>
          <a:bodyPr/>
          <a:lstStyle/>
          <a:p>
            <a:fld id="{CC057153-B650-4DEB-B370-79DDCFDCE934}" type="slidenum">
              <a:rPr lang="en-US" smtClean="0"/>
              <a:t>11</a:t>
            </a:fld>
            <a:endParaRPr lang="en-US"/>
          </a:p>
        </p:txBody>
      </p:sp>
      <p:pic>
        <p:nvPicPr>
          <p:cNvPr id="9" name="Picture 8">
            <a:extLst>
              <a:ext uri="{FF2B5EF4-FFF2-40B4-BE49-F238E27FC236}">
                <a16:creationId xmlns:a16="http://schemas.microsoft.com/office/drawing/2014/main" id="{5551C92D-1B79-4E69-4635-DF54C451599A}"/>
              </a:ext>
            </a:extLst>
          </p:cNvPr>
          <p:cNvPicPr>
            <a:picLocks noChangeAspect="1"/>
          </p:cNvPicPr>
          <p:nvPr/>
        </p:nvPicPr>
        <p:blipFill>
          <a:blip r:embed="rId2"/>
          <a:stretch>
            <a:fillRect/>
          </a:stretch>
        </p:blipFill>
        <p:spPr>
          <a:xfrm>
            <a:off x="6122404" y="2424174"/>
            <a:ext cx="4844581" cy="4028827"/>
          </a:xfrm>
          <a:prstGeom prst="rect">
            <a:avLst/>
          </a:prstGeom>
        </p:spPr>
      </p:pic>
      <p:pic>
        <p:nvPicPr>
          <p:cNvPr id="12" name="Picture 11">
            <a:extLst>
              <a:ext uri="{FF2B5EF4-FFF2-40B4-BE49-F238E27FC236}">
                <a16:creationId xmlns:a16="http://schemas.microsoft.com/office/drawing/2014/main" id="{F06099DF-E9A6-0546-BEF2-824E81560C83}"/>
              </a:ext>
            </a:extLst>
          </p:cNvPr>
          <p:cNvPicPr>
            <a:picLocks noChangeAspect="1"/>
          </p:cNvPicPr>
          <p:nvPr/>
        </p:nvPicPr>
        <p:blipFill>
          <a:blip r:embed="rId3"/>
          <a:stretch>
            <a:fillRect/>
          </a:stretch>
        </p:blipFill>
        <p:spPr>
          <a:xfrm>
            <a:off x="612647" y="2424175"/>
            <a:ext cx="4844581" cy="4028827"/>
          </a:xfrm>
          <a:prstGeom prst="rect">
            <a:avLst/>
          </a:prstGeom>
        </p:spPr>
      </p:pic>
    </p:spTree>
    <p:extLst>
      <p:ext uri="{BB962C8B-B14F-4D97-AF65-F5344CB8AC3E}">
        <p14:creationId xmlns:p14="http://schemas.microsoft.com/office/powerpoint/2010/main" val="1750697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00193-2106-E202-9057-526F8E27C784}"/>
              </a:ext>
            </a:extLst>
          </p:cNvPr>
          <p:cNvSpPr>
            <a:spLocks noGrp="1"/>
          </p:cNvSpPr>
          <p:nvPr>
            <p:ph type="title"/>
          </p:nvPr>
        </p:nvSpPr>
        <p:spPr/>
        <p:txBody>
          <a:bodyPr/>
          <a:lstStyle/>
          <a:p>
            <a:r>
              <a:rPr lang="en-US"/>
              <a:t>Results </a:t>
            </a:r>
            <a:r>
              <a:rPr lang="en-US" err="1"/>
              <a:t>cont</a:t>
            </a:r>
          </a:p>
        </p:txBody>
      </p:sp>
      <p:sp>
        <p:nvSpPr>
          <p:cNvPr id="3" name="Content Placeholder 2">
            <a:extLst>
              <a:ext uri="{FF2B5EF4-FFF2-40B4-BE49-F238E27FC236}">
                <a16:creationId xmlns:a16="http://schemas.microsoft.com/office/drawing/2014/main" id="{3C1A3D01-88B8-EEC2-D9C1-6C53BF0F1AC4}"/>
              </a:ext>
            </a:extLst>
          </p:cNvPr>
          <p:cNvSpPr>
            <a:spLocks noGrp="1"/>
          </p:cNvSpPr>
          <p:nvPr>
            <p:ph idx="1"/>
          </p:nvPr>
        </p:nvSpPr>
        <p:spPr/>
        <p:txBody>
          <a:bodyPr vert="horz" lIns="91440" tIns="45720" rIns="91440" bIns="45720" rtlCol="0" anchor="t">
            <a:noAutofit/>
          </a:bodyPr>
          <a:lstStyle/>
          <a:p>
            <a:pPr>
              <a:buNone/>
            </a:pPr>
            <a:r>
              <a:rPr lang="en-US" sz="2400">
                <a:ea typeface="+mn-lt"/>
                <a:cs typeface="+mn-lt"/>
              </a:rPr>
              <a:t>===== RESULT COMPARISON =====</a:t>
            </a:r>
            <a:endParaRPr lang="en-US"/>
          </a:p>
          <a:p>
            <a:pPr>
              <a:buNone/>
            </a:pPr>
            <a:r>
              <a:rPr lang="en-US" sz="2400">
                <a:ea typeface="+mn-lt"/>
                <a:cs typeface="+mn-lt"/>
              </a:rPr>
              <a:t>Blurred Image Mismatch:  0 / 282755 (0.0000%)</a:t>
            </a:r>
            <a:endParaRPr lang="en-US"/>
          </a:p>
          <a:p>
            <a:pPr>
              <a:buNone/>
            </a:pPr>
            <a:r>
              <a:rPr lang="en-US" sz="2400">
                <a:ea typeface="+mn-lt"/>
                <a:cs typeface="+mn-lt"/>
              </a:rPr>
              <a:t>Edge Image (GPU) Mismatch:    0 / 282755 (0.0000%)</a:t>
            </a:r>
            <a:endParaRPr lang="en-US"/>
          </a:p>
          <a:p>
            <a:pPr>
              <a:buNone/>
            </a:pPr>
            <a:r>
              <a:rPr lang="en-US" sz="2400">
                <a:ea typeface="+mn-lt"/>
                <a:cs typeface="+mn-lt"/>
              </a:rPr>
              <a:t>Edge Image (Shared) Mismatch: 17972 / 282755 (6.3560%)</a:t>
            </a:r>
            <a:endParaRPr lang="en-US"/>
          </a:p>
          <a:p>
            <a:pPr>
              <a:buNone/>
            </a:pPr>
            <a:r>
              <a:rPr lang="en-US" sz="2400">
                <a:ea typeface="+mn-lt"/>
                <a:cs typeface="+mn-lt"/>
              </a:rPr>
              <a:t>===== PERFORMANCE SUMMARY =====</a:t>
            </a:r>
          </a:p>
          <a:p>
            <a:pPr>
              <a:buNone/>
            </a:pPr>
            <a:r>
              <a:rPr lang="en-US" sz="2400">
                <a:ea typeface="+mn-lt"/>
                <a:cs typeface="+mn-lt"/>
              </a:rPr>
              <a:t>Gaussian Blur Speedup: 18056.24x</a:t>
            </a:r>
          </a:p>
          <a:p>
            <a:pPr>
              <a:buNone/>
            </a:pPr>
            <a:r>
              <a:rPr lang="en-US" sz="2400">
                <a:ea typeface="+mn-lt"/>
                <a:cs typeface="+mn-lt"/>
              </a:rPr>
              <a:t>Sobel Edge Speedup:    272.77x</a:t>
            </a:r>
          </a:p>
          <a:p>
            <a:pPr>
              <a:buNone/>
            </a:pPr>
            <a:r>
              <a:rPr lang="en-US" sz="2400">
                <a:ea typeface="+mn-lt"/>
                <a:cs typeface="+mn-lt"/>
              </a:rPr>
              <a:t>Overall GPU Speedup:   13466.95x</a:t>
            </a:r>
          </a:p>
          <a:p>
            <a:pPr>
              <a:buNone/>
            </a:pPr>
            <a:r>
              <a:rPr lang="en-US" sz="2400">
                <a:ea typeface="+mn-lt"/>
                <a:cs typeface="+mn-lt"/>
              </a:rPr>
              <a:t>Shared GPU Speedup:    20873.78x</a:t>
            </a:r>
            <a:endParaRPr lang="en-US">
              <a:ea typeface="+mn-lt"/>
              <a:cs typeface="+mn-lt"/>
            </a:endParaRPr>
          </a:p>
          <a:p>
            <a:pPr>
              <a:buNone/>
            </a:pPr>
            <a:endParaRPr lang="en-US"/>
          </a:p>
        </p:txBody>
      </p:sp>
    </p:spTree>
    <p:extLst>
      <p:ext uri="{BB962C8B-B14F-4D97-AF65-F5344CB8AC3E}">
        <p14:creationId xmlns:p14="http://schemas.microsoft.com/office/powerpoint/2010/main" val="1273675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22AC3-4ACC-DE39-59F2-A59DA9083E9E}"/>
              </a:ext>
            </a:extLst>
          </p:cNvPr>
          <p:cNvSpPr>
            <a:spLocks noGrp="1"/>
          </p:cNvSpPr>
          <p:nvPr>
            <p:ph type="title"/>
          </p:nvPr>
        </p:nvSpPr>
        <p:spPr/>
        <p:txBody>
          <a:bodyPr/>
          <a:lstStyle/>
          <a:p>
            <a:r>
              <a:rPr lang="en-US"/>
              <a:t>Results cont. </a:t>
            </a:r>
          </a:p>
        </p:txBody>
      </p:sp>
      <p:sp>
        <p:nvSpPr>
          <p:cNvPr id="3" name="Content Placeholder 2">
            <a:extLst>
              <a:ext uri="{FF2B5EF4-FFF2-40B4-BE49-F238E27FC236}">
                <a16:creationId xmlns:a16="http://schemas.microsoft.com/office/drawing/2014/main" id="{67D4BC0C-FDD4-A183-BE49-8BEB9F049FC4}"/>
              </a:ext>
            </a:extLst>
          </p:cNvPr>
          <p:cNvSpPr>
            <a:spLocks noGrp="1"/>
          </p:cNvSpPr>
          <p:nvPr>
            <p:ph idx="1"/>
          </p:nvPr>
        </p:nvSpPr>
        <p:spPr/>
        <p:txBody>
          <a:bodyPr vert="horz" lIns="91440" tIns="45720" rIns="91440" bIns="45720" rtlCol="0" anchor="t">
            <a:normAutofit fontScale="55000" lnSpcReduction="20000"/>
          </a:bodyPr>
          <a:lstStyle/>
          <a:p>
            <a:pPr>
              <a:buNone/>
            </a:pPr>
            <a:r>
              <a:rPr lang="en-US" sz="2400"/>
              <a:t>Saved CPU outputs:</a:t>
            </a:r>
          </a:p>
          <a:p>
            <a:pPr>
              <a:buNone/>
            </a:pPr>
            <a:r>
              <a:rPr lang="en-US" sz="2400"/>
              <a:t>  -&gt; blur_output_CPU.jpg</a:t>
            </a:r>
          </a:p>
          <a:p>
            <a:pPr>
              <a:buNone/>
            </a:pPr>
            <a:r>
              <a:rPr lang="en-US" sz="2400"/>
              <a:t>  -&gt; edge_output_CPU.jpg</a:t>
            </a:r>
          </a:p>
          <a:p>
            <a:pPr>
              <a:buNone/>
            </a:pPr>
            <a:r>
              <a:rPr lang="en-US" sz="2400"/>
              <a:t>Saved GPU outputs:</a:t>
            </a:r>
          </a:p>
          <a:p>
            <a:pPr>
              <a:buNone/>
            </a:pPr>
            <a:r>
              <a:rPr lang="en-US" sz="2400"/>
              <a:t>  -&gt; blur_output_GPU.jpg</a:t>
            </a:r>
          </a:p>
          <a:p>
            <a:pPr>
              <a:buNone/>
            </a:pPr>
            <a:r>
              <a:rPr lang="en-US" sz="2400"/>
              <a:t>  -&gt; edge_output_GPU.jpg</a:t>
            </a:r>
          </a:p>
          <a:p>
            <a:pPr>
              <a:buNone/>
            </a:pPr>
            <a:r>
              <a:rPr lang="en-US" sz="2400"/>
              <a:t>Saved Shared GPU outputs:</a:t>
            </a:r>
          </a:p>
          <a:p>
            <a:pPr>
              <a:buNone/>
            </a:pPr>
            <a:r>
              <a:rPr lang="en-US" sz="2400"/>
              <a:t>  -&gt; blur_output_SharedGPU.jpg</a:t>
            </a:r>
          </a:p>
          <a:p>
            <a:pPr>
              <a:buNone/>
            </a:pPr>
            <a:r>
              <a:rPr lang="en-US" sz="2400"/>
              <a:t>  -&gt; edge_output_SharedGPU.jpg</a:t>
            </a:r>
          </a:p>
          <a:p>
            <a:pPr>
              <a:buNone/>
            </a:pPr>
            <a:r>
              <a:rPr lang="en-US" sz="2400"/>
              <a:t>  -&gt; edge_output_SharedGPU.jpg</a:t>
            </a:r>
          </a:p>
          <a:p>
            <a:pPr>
              <a:buNone/>
            </a:pPr>
            <a:endParaRPr lang="en-US"/>
          </a:p>
          <a:p>
            <a:pPr marL="0" indent="0">
              <a:lnSpc>
                <a:spcPct val="100000"/>
              </a:lnSpc>
              <a:buNone/>
            </a:pPr>
            <a:r>
              <a:rPr lang="en-US" sz="2400"/>
              <a:t>===== PROGRAM COMPLETE =====</a:t>
            </a:r>
          </a:p>
          <a:p>
            <a:pPr marL="0" indent="0">
              <a:buNone/>
            </a:pPr>
            <a:endParaRPr lang="en-US"/>
          </a:p>
        </p:txBody>
      </p:sp>
      <p:sp>
        <p:nvSpPr>
          <p:cNvPr id="4" name="Date Placeholder 3">
            <a:extLst>
              <a:ext uri="{FF2B5EF4-FFF2-40B4-BE49-F238E27FC236}">
                <a16:creationId xmlns:a16="http://schemas.microsoft.com/office/drawing/2014/main" id="{FAFE5F9C-E574-4BBB-7637-6951BC457D39}"/>
              </a:ext>
            </a:extLst>
          </p:cNvPr>
          <p:cNvSpPr>
            <a:spLocks noGrp="1"/>
          </p:cNvSpPr>
          <p:nvPr>
            <p:ph type="dt" sz="half" idx="10"/>
          </p:nvPr>
        </p:nvSpPr>
        <p:spPr/>
        <p:txBody>
          <a:bodyPr/>
          <a:lstStyle/>
          <a:p>
            <a:fld id="{3F60C761-ACCD-4E19-9115-518BB6D8D8A4}" type="datetime1">
              <a:t>11/19/25</a:t>
            </a:fld>
            <a:endParaRPr lang="en-US"/>
          </a:p>
        </p:txBody>
      </p:sp>
      <p:sp>
        <p:nvSpPr>
          <p:cNvPr id="5" name="Footer Placeholder 4">
            <a:extLst>
              <a:ext uri="{FF2B5EF4-FFF2-40B4-BE49-F238E27FC236}">
                <a16:creationId xmlns:a16="http://schemas.microsoft.com/office/drawing/2014/main" id="{0E2C32A1-B92C-DFB7-E8A2-4A2BF74516B0}"/>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6F8D9927-455F-6929-E927-9997D5503409}"/>
              </a:ext>
            </a:extLst>
          </p:cNvPr>
          <p:cNvSpPr>
            <a:spLocks noGrp="1"/>
          </p:cNvSpPr>
          <p:nvPr>
            <p:ph type="sldNum" sz="quarter" idx="12"/>
          </p:nvPr>
        </p:nvSpPr>
        <p:spPr/>
        <p:txBody>
          <a:bodyPr/>
          <a:lstStyle/>
          <a:p>
            <a:fld id="{CC057153-B650-4DEB-B370-79DDCFDCE934}" type="slidenum">
              <a:rPr lang="en-US" dirty="0"/>
              <a:t>13</a:t>
            </a:fld>
            <a:endParaRPr lang="en-US"/>
          </a:p>
        </p:txBody>
      </p:sp>
    </p:spTree>
    <p:extLst>
      <p:ext uri="{BB962C8B-B14F-4D97-AF65-F5344CB8AC3E}">
        <p14:creationId xmlns:p14="http://schemas.microsoft.com/office/powerpoint/2010/main" val="539443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6D275-748F-2A26-EADB-9A534CA16852}"/>
              </a:ext>
            </a:extLst>
          </p:cNvPr>
          <p:cNvSpPr>
            <a:spLocks noGrp="1"/>
          </p:cNvSpPr>
          <p:nvPr>
            <p:ph type="title"/>
          </p:nvPr>
        </p:nvSpPr>
        <p:spPr/>
        <p:txBody>
          <a:bodyPr/>
          <a:lstStyle/>
          <a:p>
            <a:r>
              <a:rPr lang="en-US"/>
              <a:t>Comparison of original paper</a:t>
            </a:r>
          </a:p>
        </p:txBody>
      </p:sp>
      <p:pic>
        <p:nvPicPr>
          <p:cNvPr id="9" name="Content Placeholder 8">
            <a:extLst>
              <a:ext uri="{FF2B5EF4-FFF2-40B4-BE49-F238E27FC236}">
                <a16:creationId xmlns:a16="http://schemas.microsoft.com/office/drawing/2014/main" id="{995306C7-E56B-8A89-77B9-B2424F66E12F}"/>
              </a:ext>
            </a:extLst>
          </p:cNvPr>
          <p:cNvPicPr>
            <a:picLocks noGrp="1" noChangeAspect="1"/>
          </p:cNvPicPr>
          <p:nvPr>
            <p:ph idx="1"/>
          </p:nvPr>
        </p:nvPicPr>
        <p:blipFill>
          <a:blip r:embed="rId2"/>
          <a:stretch>
            <a:fillRect/>
          </a:stretch>
        </p:blipFill>
        <p:spPr>
          <a:xfrm>
            <a:off x="970119" y="3931120"/>
            <a:ext cx="4950136" cy="2378240"/>
          </a:xfrm>
          <a:prstGeom prst="rect">
            <a:avLst/>
          </a:prstGeom>
        </p:spPr>
      </p:pic>
      <p:sp>
        <p:nvSpPr>
          <p:cNvPr id="4" name="Date Placeholder 3">
            <a:extLst>
              <a:ext uri="{FF2B5EF4-FFF2-40B4-BE49-F238E27FC236}">
                <a16:creationId xmlns:a16="http://schemas.microsoft.com/office/drawing/2014/main" id="{64EE72D7-F2B0-A8E3-7B64-82FF3E834C14}"/>
              </a:ext>
            </a:extLst>
          </p:cNvPr>
          <p:cNvSpPr>
            <a:spLocks noGrp="1"/>
          </p:cNvSpPr>
          <p:nvPr>
            <p:ph type="dt" sz="half" idx="10"/>
          </p:nvPr>
        </p:nvSpPr>
        <p:spPr/>
        <p:txBody>
          <a:bodyPr/>
          <a:lstStyle/>
          <a:p>
            <a:fld id="{8634983D-0DC3-6840-BE6F-CCFB749CD0D0}" type="datetime1">
              <a:rPr lang="en-US" smtClean="0"/>
              <a:t>11/19/25</a:t>
            </a:fld>
            <a:endParaRPr lang="en-US"/>
          </a:p>
        </p:txBody>
      </p:sp>
      <p:sp>
        <p:nvSpPr>
          <p:cNvPr id="5" name="Footer Placeholder 4">
            <a:extLst>
              <a:ext uri="{FF2B5EF4-FFF2-40B4-BE49-F238E27FC236}">
                <a16:creationId xmlns:a16="http://schemas.microsoft.com/office/drawing/2014/main" id="{B32EE24E-47D8-3F6F-316D-D60C570CC60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356D923-B784-5F5B-F940-219499AC4BB7}"/>
              </a:ext>
            </a:extLst>
          </p:cNvPr>
          <p:cNvSpPr>
            <a:spLocks noGrp="1"/>
          </p:cNvSpPr>
          <p:nvPr>
            <p:ph type="sldNum" sz="quarter" idx="12"/>
          </p:nvPr>
        </p:nvSpPr>
        <p:spPr/>
        <p:txBody>
          <a:bodyPr/>
          <a:lstStyle/>
          <a:p>
            <a:fld id="{CC057153-B650-4DEB-B370-79DDCFDCE934}" type="slidenum">
              <a:rPr lang="en-US" smtClean="0"/>
              <a:t>14</a:t>
            </a:fld>
            <a:endParaRPr lang="en-US"/>
          </a:p>
        </p:txBody>
      </p:sp>
      <p:pic>
        <p:nvPicPr>
          <p:cNvPr id="15" name="Picture 14">
            <a:extLst>
              <a:ext uri="{FF2B5EF4-FFF2-40B4-BE49-F238E27FC236}">
                <a16:creationId xmlns:a16="http://schemas.microsoft.com/office/drawing/2014/main" id="{62D9E842-9988-1317-BD2A-DEC3E794F66C}"/>
              </a:ext>
            </a:extLst>
          </p:cNvPr>
          <p:cNvPicPr>
            <a:picLocks noChangeAspect="1"/>
          </p:cNvPicPr>
          <p:nvPr/>
        </p:nvPicPr>
        <p:blipFill>
          <a:blip r:embed="rId3"/>
          <a:stretch>
            <a:fillRect/>
          </a:stretch>
        </p:blipFill>
        <p:spPr>
          <a:xfrm>
            <a:off x="5920255" y="3940720"/>
            <a:ext cx="3933750" cy="2440461"/>
          </a:xfrm>
          <a:prstGeom prst="rect">
            <a:avLst/>
          </a:prstGeom>
        </p:spPr>
      </p:pic>
      <p:sp>
        <p:nvSpPr>
          <p:cNvPr id="16" name="TextBox 15">
            <a:extLst>
              <a:ext uri="{FF2B5EF4-FFF2-40B4-BE49-F238E27FC236}">
                <a16:creationId xmlns:a16="http://schemas.microsoft.com/office/drawing/2014/main" id="{E3CAFE70-4594-CB68-036D-FF2BBD74472F}"/>
              </a:ext>
            </a:extLst>
          </p:cNvPr>
          <p:cNvSpPr txBox="1"/>
          <p:nvPr/>
        </p:nvSpPr>
        <p:spPr>
          <a:xfrm>
            <a:off x="612648" y="1641548"/>
            <a:ext cx="11045651" cy="2031325"/>
          </a:xfrm>
          <a:prstGeom prst="rect">
            <a:avLst/>
          </a:prstGeom>
          <a:noFill/>
        </p:spPr>
        <p:txBody>
          <a:bodyPr wrap="square" lIns="91440" tIns="45720" rIns="91440" bIns="45720" rtlCol="0" anchor="t">
            <a:spAutoFit/>
          </a:bodyPr>
          <a:lstStyle/>
          <a:p>
            <a:pPr algn="l"/>
            <a:r>
              <a:rPr lang="en-US"/>
              <a:t>Original paper results</a:t>
            </a:r>
          </a:p>
          <a:p>
            <a:endParaRPr lang="en-US"/>
          </a:p>
          <a:p>
            <a:r>
              <a:rPr lang="en-US"/>
              <a:t>Our results showed better performance gains than even the original paper got, though this is most likely due to better hardware and not necessarily better optimization</a:t>
            </a:r>
          </a:p>
          <a:p>
            <a:endParaRPr lang="en-US"/>
          </a:p>
          <a:p>
            <a:r>
              <a:rPr lang="en-US"/>
              <a:t>The paper shows speedup factors of 20x for the blur and we got over 10,000x speedup for the blur over many tests in our testing</a:t>
            </a:r>
          </a:p>
        </p:txBody>
      </p:sp>
    </p:spTree>
    <p:extLst>
      <p:ext uri="{BB962C8B-B14F-4D97-AF65-F5344CB8AC3E}">
        <p14:creationId xmlns:p14="http://schemas.microsoft.com/office/powerpoint/2010/main" val="2328275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3ED84-6E7D-BBFE-5CDB-D90EFE99F1B6}"/>
              </a:ext>
            </a:extLst>
          </p:cNvPr>
          <p:cNvSpPr>
            <a:spLocks noGrp="1"/>
          </p:cNvSpPr>
          <p:nvPr>
            <p:ph type="title"/>
          </p:nvPr>
        </p:nvSpPr>
        <p:spPr/>
        <p:txBody>
          <a:bodyPr/>
          <a:lstStyle/>
          <a:p>
            <a:r>
              <a:rPr lang="en-US"/>
              <a:t>Comparison </a:t>
            </a:r>
            <a:r>
              <a:rPr lang="en-US" err="1"/>
              <a:t>countinued</a:t>
            </a:r>
            <a:endParaRPr lang="en-US"/>
          </a:p>
        </p:txBody>
      </p:sp>
      <p:pic>
        <p:nvPicPr>
          <p:cNvPr id="14" name="Content Placeholder 13">
            <a:extLst>
              <a:ext uri="{FF2B5EF4-FFF2-40B4-BE49-F238E27FC236}">
                <a16:creationId xmlns:a16="http://schemas.microsoft.com/office/drawing/2014/main" id="{84A0BFAA-BCF4-5627-BE13-70BE16C21D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34055" y="3800377"/>
            <a:ext cx="4149297" cy="2624672"/>
          </a:xfrm>
          <a:prstGeom prst="rect">
            <a:avLst/>
          </a:prstGeom>
        </p:spPr>
      </p:pic>
      <p:sp>
        <p:nvSpPr>
          <p:cNvPr id="4" name="Date Placeholder 3">
            <a:extLst>
              <a:ext uri="{FF2B5EF4-FFF2-40B4-BE49-F238E27FC236}">
                <a16:creationId xmlns:a16="http://schemas.microsoft.com/office/drawing/2014/main" id="{DDEC2F9C-8F3D-0518-A865-72334A969C95}"/>
              </a:ext>
            </a:extLst>
          </p:cNvPr>
          <p:cNvSpPr>
            <a:spLocks noGrp="1"/>
          </p:cNvSpPr>
          <p:nvPr>
            <p:ph type="dt" sz="half" idx="10"/>
          </p:nvPr>
        </p:nvSpPr>
        <p:spPr/>
        <p:txBody>
          <a:bodyPr/>
          <a:lstStyle/>
          <a:p>
            <a:fld id="{BB4534EB-14CB-9744-9835-5A4081C8684F}" type="datetime1">
              <a:rPr lang="en-US" smtClean="0"/>
              <a:t>11/19/25</a:t>
            </a:fld>
            <a:endParaRPr lang="en-US"/>
          </a:p>
        </p:txBody>
      </p:sp>
      <p:sp>
        <p:nvSpPr>
          <p:cNvPr id="5" name="Footer Placeholder 4">
            <a:extLst>
              <a:ext uri="{FF2B5EF4-FFF2-40B4-BE49-F238E27FC236}">
                <a16:creationId xmlns:a16="http://schemas.microsoft.com/office/drawing/2014/main" id="{5EB0EB3F-32DE-815A-F614-306A412076C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63F0C824-D9D6-68E2-A74C-5BABB3D0676B}"/>
              </a:ext>
            </a:extLst>
          </p:cNvPr>
          <p:cNvSpPr>
            <a:spLocks noGrp="1"/>
          </p:cNvSpPr>
          <p:nvPr>
            <p:ph type="sldNum" sz="quarter" idx="12"/>
          </p:nvPr>
        </p:nvSpPr>
        <p:spPr/>
        <p:txBody>
          <a:bodyPr/>
          <a:lstStyle/>
          <a:p>
            <a:fld id="{CC057153-B650-4DEB-B370-79DDCFDCE934}" type="slidenum">
              <a:rPr lang="en-US" smtClean="0"/>
              <a:t>15</a:t>
            </a:fld>
            <a:endParaRPr lang="en-US"/>
          </a:p>
        </p:txBody>
      </p:sp>
      <p:pic>
        <p:nvPicPr>
          <p:cNvPr id="18" name="Picture 17">
            <a:extLst>
              <a:ext uri="{FF2B5EF4-FFF2-40B4-BE49-F238E27FC236}">
                <a16:creationId xmlns:a16="http://schemas.microsoft.com/office/drawing/2014/main" id="{1925E629-D609-ECF0-F888-E79A9D2B51D2}"/>
              </a:ext>
            </a:extLst>
          </p:cNvPr>
          <p:cNvPicPr>
            <a:picLocks noChangeAspect="1"/>
          </p:cNvPicPr>
          <p:nvPr/>
        </p:nvPicPr>
        <p:blipFill>
          <a:blip r:embed="rId3"/>
          <a:stretch>
            <a:fillRect/>
          </a:stretch>
        </p:blipFill>
        <p:spPr>
          <a:xfrm>
            <a:off x="779237" y="1683966"/>
            <a:ext cx="4049167" cy="3357995"/>
          </a:xfrm>
          <a:prstGeom prst="rect">
            <a:avLst/>
          </a:prstGeom>
        </p:spPr>
      </p:pic>
      <p:pic>
        <p:nvPicPr>
          <p:cNvPr id="20" name="Picture 19">
            <a:extLst>
              <a:ext uri="{FF2B5EF4-FFF2-40B4-BE49-F238E27FC236}">
                <a16:creationId xmlns:a16="http://schemas.microsoft.com/office/drawing/2014/main" id="{27CBDB87-3B27-059A-2539-063A25DB3B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0834" y="106741"/>
            <a:ext cx="4765036" cy="3544242"/>
          </a:xfrm>
          <a:prstGeom prst="rect">
            <a:avLst/>
          </a:prstGeom>
        </p:spPr>
      </p:pic>
      <p:sp>
        <p:nvSpPr>
          <p:cNvPr id="21" name="TextBox 20">
            <a:extLst>
              <a:ext uri="{FF2B5EF4-FFF2-40B4-BE49-F238E27FC236}">
                <a16:creationId xmlns:a16="http://schemas.microsoft.com/office/drawing/2014/main" id="{89E8EAA1-8D99-B269-ECE8-4801E21C74F3}"/>
              </a:ext>
            </a:extLst>
          </p:cNvPr>
          <p:cNvSpPr txBox="1"/>
          <p:nvPr/>
        </p:nvSpPr>
        <p:spPr>
          <a:xfrm>
            <a:off x="137160" y="4989327"/>
            <a:ext cx="1828800" cy="369332"/>
          </a:xfrm>
          <a:prstGeom prst="rect">
            <a:avLst/>
          </a:prstGeom>
          <a:noFill/>
        </p:spPr>
        <p:txBody>
          <a:bodyPr wrap="square" rtlCol="0">
            <a:spAutoFit/>
          </a:bodyPr>
          <a:lstStyle/>
          <a:p>
            <a:pPr algn="l"/>
            <a:r>
              <a:rPr lang="en-US"/>
              <a:t>Via Matlab</a:t>
            </a:r>
          </a:p>
        </p:txBody>
      </p:sp>
    </p:spTree>
    <p:extLst>
      <p:ext uri="{BB962C8B-B14F-4D97-AF65-F5344CB8AC3E}">
        <p14:creationId xmlns:p14="http://schemas.microsoft.com/office/powerpoint/2010/main" val="2189936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0057-B267-281D-15F8-4C03D822FA4B}"/>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4A4C1369-683C-E830-7290-17E79F330B19}"/>
              </a:ext>
            </a:extLst>
          </p:cNvPr>
          <p:cNvSpPr>
            <a:spLocks noGrp="1"/>
          </p:cNvSpPr>
          <p:nvPr>
            <p:ph idx="1"/>
          </p:nvPr>
        </p:nvSpPr>
        <p:spPr/>
        <p:txBody>
          <a:bodyPr>
            <a:normAutofit fontScale="92500" lnSpcReduction="20000"/>
          </a:bodyPr>
          <a:lstStyle/>
          <a:p>
            <a:r>
              <a:rPr lang="en-US" err="1"/>
              <a:t>Ramadasu</a:t>
            </a:r>
            <a:r>
              <a:rPr lang="en-US"/>
              <a:t>, B. (2014). Performance Enhancement of Image Filtering on GPU Using CUDA. International Journal of Advanced Research in Computer and Communication Engineering (</a:t>
            </a:r>
            <a:r>
              <a:rPr lang="en-US" err="1"/>
              <a:t>IJARCCE</a:t>
            </a:r>
            <a:r>
              <a:rPr lang="en-US"/>
              <a:t>), 3(11), 8472–8476.</a:t>
            </a:r>
          </a:p>
          <a:p>
            <a:r>
              <a:rPr lang="en-US"/>
              <a:t>[Available online via ResearchGate / </a:t>
            </a:r>
            <a:r>
              <a:rPr lang="en-US" err="1"/>
              <a:t>IJARCCE</a:t>
            </a:r>
            <a:r>
              <a:rPr lang="en-US"/>
              <a:t> archives]</a:t>
            </a:r>
          </a:p>
          <a:p>
            <a:r>
              <a:rPr lang="en-US"/>
              <a:t>NVIDIA Corporation. (2024). CUDA C Programming Guide. NVIDIA Developer Documentation.</a:t>
            </a:r>
          </a:p>
          <a:p>
            <a:r>
              <a:rPr lang="en-US"/>
              <a:t>Retrieved from </a:t>
            </a:r>
            <a:r>
              <a:rPr lang="en-US">
                <a:hlinkClick r:id="rId2"/>
              </a:rPr>
              <a:t>https://docs.nvidia.com/cuda/</a:t>
            </a:r>
            <a:endParaRPr lang="en-US"/>
          </a:p>
          <a:p>
            <a:r>
              <a:rPr lang="en-US"/>
              <a:t>MathWorks. (2024). MATLAB Documentation: Plot and Visualization Functions.</a:t>
            </a:r>
          </a:p>
          <a:p>
            <a:r>
              <a:rPr lang="en-US"/>
              <a:t>Retrieved from </a:t>
            </a:r>
            <a:r>
              <a:rPr lang="en-US">
                <a:hlinkClick r:id="rId3"/>
              </a:rPr>
              <a:t>https://www.mathworks.com/help/</a:t>
            </a:r>
            <a:r>
              <a:rPr lang="en-US" err="1">
                <a:hlinkClick r:id="rId3"/>
              </a:rPr>
              <a:t>matlab</a:t>
            </a:r>
            <a:r>
              <a:rPr lang="en-US">
                <a:hlinkClick r:id="rId3"/>
              </a:rPr>
              <a:t>/</a:t>
            </a:r>
            <a:endParaRPr lang="en-US"/>
          </a:p>
          <a:p>
            <a:r>
              <a:rPr lang="en-US"/>
              <a:t>OpenCV Team. (2024). OpenCV 4.0+ Reference Manual.</a:t>
            </a:r>
          </a:p>
          <a:p>
            <a:r>
              <a:rPr lang="en-US"/>
              <a:t>Retrieved from </a:t>
            </a:r>
            <a:r>
              <a:rPr lang="en-US">
                <a:hlinkClick r:id="rId4"/>
              </a:rPr>
              <a:t>https://</a:t>
            </a:r>
            <a:r>
              <a:rPr lang="en-US" err="1">
                <a:hlinkClick r:id="rId4"/>
              </a:rPr>
              <a:t>docs.opencv.org</a:t>
            </a:r>
            <a:r>
              <a:rPr lang="en-US">
                <a:hlinkClick r:id="rId4"/>
              </a:rPr>
              <a:t>/</a:t>
            </a:r>
            <a:endParaRPr lang="en-US"/>
          </a:p>
          <a:p>
            <a:r>
              <a:rPr lang="en-US"/>
              <a:t>GitHub Repository: Image Processing GPU Acceleration (Recreation).</a:t>
            </a:r>
          </a:p>
          <a:p>
            <a:r>
              <a:rPr lang="en-US"/>
              <a:t>Available at </a:t>
            </a:r>
            <a:r>
              <a:rPr lang="en-US">
                <a:hlinkClick r:id="rId5"/>
              </a:rPr>
              <a:t>https://github.com/</a:t>
            </a:r>
            <a:r>
              <a:rPr lang="en-US" err="1">
                <a:hlinkClick r:id="rId5"/>
              </a:rPr>
              <a:t>jayphay</a:t>
            </a:r>
            <a:r>
              <a:rPr lang="en-US">
                <a:hlinkClick r:id="rId5"/>
              </a:rPr>
              <a:t>/ImageProcessing.git</a:t>
            </a:r>
            <a:endParaRPr lang="en-US"/>
          </a:p>
          <a:p>
            <a:endParaRPr lang="en-US"/>
          </a:p>
        </p:txBody>
      </p:sp>
      <p:sp>
        <p:nvSpPr>
          <p:cNvPr id="4" name="Date Placeholder 3">
            <a:extLst>
              <a:ext uri="{FF2B5EF4-FFF2-40B4-BE49-F238E27FC236}">
                <a16:creationId xmlns:a16="http://schemas.microsoft.com/office/drawing/2014/main" id="{5A2110B1-1160-1CDF-53C1-E96C7C7D8E67}"/>
              </a:ext>
            </a:extLst>
          </p:cNvPr>
          <p:cNvSpPr>
            <a:spLocks noGrp="1"/>
          </p:cNvSpPr>
          <p:nvPr>
            <p:ph type="dt" sz="half" idx="10"/>
          </p:nvPr>
        </p:nvSpPr>
        <p:spPr/>
        <p:txBody>
          <a:bodyPr/>
          <a:lstStyle/>
          <a:p>
            <a:fld id="{C3DF83E7-3CB3-1044-8BDC-A8BF70E505E4}" type="datetime1">
              <a:rPr lang="en-US" smtClean="0"/>
              <a:t>11/19/25</a:t>
            </a:fld>
            <a:endParaRPr lang="en-US"/>
          </a:p>
        </p:txBody>
      </p:sp>
      <p:sp>
        <p:nvSpPr>
          <p:cNvPr id="5" name="Footer Placeholder 4">
            <a:extLst>
              <a:ext uri="{FF2B5EF4-FFF2-40B4-BE49-F238E27FC236}">
                <a16:creationId xmlns:a16="http://schemas.microsoft.com/office/drawing/2014/main" id="{E9ADE662-DBD6-D59A-E61B-9114DA0B259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D37BA1B-9E10-55F0-E3BC-769FB738237C}"/>
              </a:ext>
            </a:extLst>
          </p:cNvPr>
          <p:cNvSpPr>
            <a:spLocks noGrp="1"/>
          </p:cNvSpPr>
          <p:nvPr>
            <p:ph type="sldNum" sz="quarter" idx="12"/>
          </p:nvPr>
        </p:nvSpPr>
        <p:spPr/>
        <p:txBody>
          <a:bodyPr/>
          <a:lstStyle/>
          <a:p>
            <a:fld id="{CC057153-B650-4DEB-B370-79DDCFDCE934}" type="slidenum">
              <a:rPr lang="en-US" smtClean="0"/>
              <a:t>16</a:t>
            </a:fld>
            <a:endParaRPr lang="en-US"/>
          </a:p>
        </p:txBody>
      </p:sp>
    </p:spTree>
    <p:extLst>
      <p:ext uri="{BB962C8B-B14F-4D97-AF65-F5344CB8AC3E}">
        <p14:creationId xmlns:p14="http://schemas.microsoft.com/office/powerpoint/2010/main" val="33795993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Celestial</vt:lpstr>
      <vt:lpstr>Image processing</vt:lpstr>
      <vt:lpstr>Introduction</vt:lpstr>
      <vt:lpstr>Background and Motivation </vt:lpstr>
      <vt:lpstr>Design Methods</vt:lpstr>
      <vt:lpstr>Gaussian Blur</vt:lpstr>
      <vt:lpstr>Gaussian Blur cont</vt:lpstr>
      <vt:lpstr>Edge Detection</vt:lpstr>
      <vt:lpstr>Improvements</vt:lpstr>
      <vt:lpstr>Results</vt:lpstr>
      <vt:lpstr>Results cont </vt:lpstr>
      <vt:lpstr>Results cont.</vt:lpstr>
      <vt:lpstr>Results cont</vt:lpstr>
      <vt:lpstr>Results cont. </vt:lpstr>
      <vt:lpstr>Comparison of original paper</vt:lpstr>
      <vt:lpstr>Comparison countinued</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processing</dc:title>
  <dc:creator>Nubayat Ahmed</dc:creator>
  <cp:lastModifiedBy>Nubayat Ahmed</cp:lastModifiedBy>
  <cp:revision>2</cp:revision>
  <dcterms:created xsi:type="dcterms:W3CDTF">2025-11-11T18:24:12Z</dcterms:created>
  <dcterms:modified xsi:type="dcterms:W3CDTF">2025-11-19T05:06:18Z</dcterms:modified>
</cp:coreProperties>
</file>